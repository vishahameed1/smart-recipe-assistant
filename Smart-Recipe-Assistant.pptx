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rygada 1918 Semi Bold"/>
      <p:regular r:id="rId17"/>
    </p:embeddedFont>
    <p:embeddedFont>
      <p:font typeface="Brygada 1918 Semi Bold"/>
      <p:regular r:id="rId18"/>
    </p:embeddedFont>
    <p:embeddedFont>
      <p:font typeface="Brygada 1918 Semi Bold"/>
      <p:regular r:id="rId19"/>
    </p:embeddedFont>
    <p:embeddedFont>
      <p:font typeface="Brygada 1918 Semi Bold"/>
      <p:regular r:id="rId20"/>
    </p:embeddedFont>
    <p:embeddedFont>
      <p:font typeface="Brygada 1918"/>
      <p:regular r:id="rId21"/>
    </p:embeddedFont>
    <p:embeddedFont>
      <p:font typeface="Brygada 1918"/>
      <p:regular r:id="rId22"/>
    </p:embeddedFont>
    <p:embeddedFont>
      <p:font typeface="Brygada 1918"/>
      <p:regular r:id="rId23"/>
    </p:embeddedFont>
    <p:embeddedFont>
      <p:font typeface="Brygada 1918"/>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C064"/>
          </a:solidFill>
          <a:ln/>
        </p:spPr>
      </p:sp>
      <p:sp>
        <p:nvSpPr>
          <p:cNvPr id="3" name="Shape 1"/>
          <p:cNvSpPr/>
          <p:nvPr/>
        </p:nvSpPr>
        <p:spPr>
          <a:xfrm>
            <a:off x="0" y="0"/>
            <a:ext cx="14630400" cy="8229600"/>
          </a:xfrm>
          <a:prstGeom prst="rect">
            <a:avLst/>
          </a:prstGeom>
          <a:solidFill>
            <a:srgbClr val="F6EBD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github.com/VISHA-HAMEED1.com" TargetMode="External"/><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1664256"/>
            <a:ext cx="6220897" cy="708779"/>
          </a:xfrm>
          <a:prstGeom prst="rect">
            <a:avLst/>
          </a:prstGeom>
          <a:noFill/>
          <a:ln/>
        </p:spPr>
        <p:txBody>
          <a:bodyPr wrap="none" lIns="0" tIns="0" rIns="0" bIns="0" rtlCol="0" anchor="t"/>
          <a:lstStyle/>
          <a:p>
            <a:pPr algn="l" indent="0" marL="0">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Smart Recipe Assistant</a:t>
            </a:r>
            <a:endParaRPr lang="en-US" sz="4450" dirty="0"/>
          </a:p>
        </p:txBody>
      </p:sp>
      <p:sp>
        <p:nvSpPr>
          <p:cNvPr id="4" name="Text 1"/>
          <p:cNvSpPr/>
          <p:nvPr/>
        </p:nvSpPr>
        <p:spPr>
          <a:xfrm>
            <a:off x="6280190" y="2713196"/>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AI-Driven Voice Controlled Mobile Application</a:t>
            </a:r>
            <a:endParaRPr lang="en-US" sz="1750" dirty="0"/>
          </a:p>
        </p:txBody>
      </p:sp>
      <p:sp>
        <p:nvSpPr>
          <p:cNvPr id="5" name="Shape 2"/>
          <p:cNvSpPr/>
          <p:nvPr/>
        </p:nvSpPr>
        <p:spPr>
          <a:xfrm>
            <a:off x="6280190" y="3331250"/>
            <a:ext cx="3664744" cy="1685092"/>
          </a:xfrm>
          <a:prstGeom prst="roundRect">
            <a:avLst>
              <a:gd name="adj" fmla="val 20191"/>
            </a:avLst>
          </a:prstGeom>
          <a:solidFill>
            <a:srgbClr val="626C3B"/>
          </a:solidFill>
          <a:ln w="7620">
            <a:solidFill>
              <a:srgbClr val="7B8554"/>
            </a:solidFill>
            <a:prstDash val="solid"/>
          </a:ln>
        </p:spPr>
      </p:sp>
      <p:sp>
        <p:nvSpPr>
          <p:cNvPr id="6" name="Text 3"/>
          <p:cNvSpPr/>
          <p:nvPr/>
        </p:nvSpPr>
        <p:spPr>
          <a:xfrm>
            <a:off x="6514624" y="356568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Visha Hameed</a:t>
            </a:r>
            <a:endParaRPr lang="en-US" sz="2200" dirty="0"/>
          </a:p>
        </p:txBody>
      </p:sp>
      <p:sp>
        <p:nvSpPr>
          <p:cNvPr id="7" name="Text 4"/>
          <p:cNvSpPr/>
          <p:nvPr/>
        </p:nvSpPr>
        <p:spPr>
          <a:xfrm>
            <a:off x="6514624" y="4056102"/>
            <a:ext cx="3195876" cy="362903"/>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Reg No: 232201044</a:t>
            </a:r>
            <a:endParaRPr lang="en-US" sz="1750" dirty="0"/>
          </a:p>
        </p:txBody>
      </p:sp>
      <p:sp>
        <p:nvSpPr>
          <p:cNvPr id="8" name="Shape 5"/>
          <p:cNvSpPr/>
          <p:nvPr/>
        </p:nvSpPr>
        <p:spPr>
          <a:xfrm>
            <a:off x="10171748" y="3331250"/>
            <a:ext cx="3664863" cy="1685092"/>
          </a:xfrm>
          <a:prstGeom prst="roundRect">
            <a:avLst>
              <a:gd name="adj" fmla="val 20191"/>
            </a:avLst>
          </a:prstGeom>
          <a:solidFill>
            <a:srgbClr val="83792E"/>
          </a:solidFill>
          <a:ln w="7620">
            <a:solidFill>
              <a:srgbClr val="9C9247"/>
            </a:solidFill>
            <a:prstDash val="solid"/>
          </a:ln>
        </p:spPr>
      </p:sp>
      <p:sp>
        <p:nvSpPr>
          <p:cNvPr id="9" name="Text 6"/>
          <p:cNvSpPr/>
          <p:nvPr/>
        </p:nvSpPr>
        <p:spPr>
          <a:xfrm>
            <a:off x="10406182" y="356568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Department</a:t>
            </a:r>
            <a:endParaRPr lang="en-US" sz="2200" dirty="0"/>
          </a:p>
        </p:txBody>
      </p:sp>
      <p:sp>
        <p:nvSpPr>
          <p:cNvPr id="10" name="Text 7"/>
          <p:cNvSpPr/>
          <p:nvPr/>
        </p:nvSpPr>
        <p:spPr>
          <a:xfrm>
            <a:off x="10406182" y="4056102"/>
            <a:ext cx="3195995"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Computer Engineering, KICSIT</a:t>
            </a:r>
            <a:endParaRPr lang="en-US" sz="1750" dirty="0"/>
          </a:p>
        </p:txBody>
      </p:sp>
      <p:sp>
        <p:nvSpPr>
          <p:cNvPr id="11" name="Shape 8"/>
          <p:cNvSpPr/>
          <p:nvPr/>
        </p:nvSpPr>
        <p:spPr>
          <a:xfrm>
            <a:off x="6280190" y="5243155"/>
            <a:ext cx="7556421" cy="1322189"/>
          </a:xfrm>
          <a:prstGeom prst="roundRect">
            <a:avLst>
              <a:gd name="adj" fmla="val 25733"/>
            </a:avLst>
          </a:prstGeom>
          <a:solidFill>
            <a:srgbClr val="E8AF3B"/>
          </a:solidFill>
          <a:ln w="7620">
            <a:solidFill>
              <a:srgbClr val="CE9521"/>
            </a:solidFill>
            <a:prstDash val="solid"/>
          </a:ln>
        </p:spPr>
      </p:sp>
      <p:sp>
        <p:nvSpPr>
          <p:cNvPr id="12" name="Text 9"/>
          <p:cNvSpPr/>
          <p:nvPr/>
        </p:nvSpPr>
        <p:spPr>
          <a:xfrm>
            <a:off x="6514624" y="54775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Brygada 1918 Semi Bold" pitchFamily="34" charset="0"/>
                <a:ea typeface="Brygada 1918 Semi Bold" pitchFamily="34" charset="-122"/>
                <a:cs typeface="Brygada 1918 Semi Bold" pitchFamily="34" charset="-120"/>
              </a:rPr>
              <a:t>Supervisor</a:t>
            </a:r>
            <a:endParaRPr lang="en-US" sz="2200" dirty="0"/>
          </a:p>
        </p:txBody>
      </p:sp>
      <p:sp>
        <p:nvSpPr>
          <p:cNvPr id="13" name="Text 10"/>
          <p:cNvSpPr/>
          <p:nvPr/>
        </p:nvSpPr>
        <p:spPr>
          <a:xfrm>
            <a:off x="6514624" y="5968008"/>
            <a:ext cx="7087553"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Brygada 1918" pitchFamily="34" charset="0"/>
                <a:ea typeface="Brygada 1918" pitchFamily="34" charset="-122"/>
                <a:cs typeface="Brygada 1918" pitchFamily="34" charset="-120"/>
              </a:rPr>
              <a:t>Sir Uzair Janjua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13874" y="403741"/>
            <a:ext cx="1096447" cy="275868"/>
          </a:xfrm>
          <a:prstGeom prst="roundRect">
            <a:avLst>
              <a:gd name="adj" fmla="val 63872"/>
            </a:avLst>
          </a:prstGeom>
          <a:solidFill>
            <a:srgbClr val="EAEDDE"/>
          </a:solidFill>
          <a:ln/>
        </p:spPr>
      </p:sp>
      <p:sp>
        <p:nvSpPr>
          <p:cNvPr id="3" name="Text 1"/>
          <p:cNvSpPr/>
          <p:nvPr/>
        </p:nvSpPr>
        <p:spPr>
          <a:xfrm>
            <a:off x="601861" y="447675"/>
            <a:ext cx="920472" cy="188000"/>
          </a:xfrm>
          <a:prstGeom prst="rect">
            <a:avLst/>
          </a:prstGeom>
          <a:noFill/>
          <a:ln/>
        </p:spPr>
        <p:txBody>
          <a:bodyPr wrap="none" lIns="0" tIns="0" rIns="0" bIns="0" rtlCol="0" anchor="t"/>
          <a:lstStyle/>
          <a:p>
            <a:pPr algn="l" indent="0" marL="0">
              <a:lnSpc>
                <a:spcPts val="1450"/>
              </a:lnSpc>
              <a:buNone/>
            </a:pPr>
            <a:r>
              <a:rPr lang="en-US" sz="900" dirty="0">
                <a:solidFill>
                  <a:srgbClr val="403011"/>
                </a:solidFill>
                <a:latin typeface="Brygada 1918" pitchFamily="34" charset="0"/>
                <a:ea typeface="Brygada 1918" pitchFamily="34" charset="-122"/>
                <a:cs typeface="Brygada 1918" pitchFamily="34" charset="-120"/>
              </a:rPr>
              <a:t>INTRODUCTION</a:t>
            </a:r>
            <a:endParaRPr lang="en-US" sz="900" dirty="0"/>
          </a:p>
        </p:txBody>
      </p:sp>
      <p:sp>
        <p:nvSpPr>
          <p:cNvPr id="4" name="Text 2"/>
          <p:cNvSpPr/>
          <p:nvPr/>
        </p:nvSpPr>
        <p:spPr>
          <a:xfrm>
            <a:off x="513874" y="738307"/>
            <a:ext cx="5493544" cy="367070"/>
          </a:xfrm>
          <a:prstGeom prst="rect">
            <a:avLst/>
          </a:prstGeom>
          <a:noFill/>
          <a:ln/>
        </p:spPr>
        <p:txBody>
          <a:bodyPr wrap="none" lIns="0" tIns="0" rIns="0" bIns="0" rtlCol="0" anchor="t"/>
          <a:lstStyle/>
          <a:p>
            <a:pPr algn="l" indent="0" marL="0">
              <a:lnSpc>
                <a:spcPts val="2850"/>
              </a:lnSpc>
              <a:buNone/>
            </a:pPr>
            <a:r>
              <a:rPr lang="en-US" sz="2300" dirty="0">
                <a:solidFill>
                  <a:srgbClr val="403011"/>
                </a:solidFill>
                <a:latin typeface="Brygada 1918 Semi Bold" pitchFamily="34" charset="0"/>
                <a:ea typeface="Brygada 1918 Semi Bold" pitchFamily="34" charset="-122"/>
                <a:cs typeface="Brygada 1918 Semi Bold" pitchFamily="34" charset="-120"/>
              </a:rPr>
              <a:t>Revolutionising the Kitchen Experience</a:t>
            </a:r>
            <a:endParaRPr lang="en-US" sz="2300" dirty="0"/>
          </a:p>
        </p:txBody>
      </p:sp>
      <p:sp>
        <p:nvSpPr>
          <p:cNvPr id="5" name="Text 3"/>
          <p:cNvSpPr/>
          <p:nvPr/>
        </p:nvSpPr>
        <p:spPr>
          <a:xfrm>
            <a:off x="513874" y="1457563"/>
            <a:ext cx="6622256" cy="704374"/>
          </a:xfrm>
          <a:prstGeom prst="rect">
            <a:avLst/>
          </a:prstGeom>
          <a:noFill/>
          <a:ln/>
        </p:spPr>
        <p:txBody>
          <a:bodyPr wrap="square" lIns="0" tIns="0" rIns="0" bIns="0" rtlCol="0" anchor="t"/>
          <a:lstStyle/>
          <a:p>
            <a:pPr algn="l" indent="0" marL="0">
              <a:lnSpc>
                <a:spcPts val="1800"/>
              </a:lnSpc>
              <a:buNone/>
            </a:pPr>
            <a:r>
              <a:rPr lang="en-US" sz="1150" dirty="0">
                <a:solidFill>
                  <a:srgbClr val="403011"/>
                </a:solidFill>
                <a:latin typeface="Brygada 1918" pitchFamily="34" charset="0"/>
                <a:ea typeface="Brygada 1918" pitchFamily="34" charset="-122"/>
                <a:cs typeface="Brygada 1918" pitchFamily="34" charset="-120"/>
              </a:rPr>
              <a:t>Imagine an Android application that seamlessly blends the power of Artificial Intelligence with intuitive Voice Recognition to simplify the cooking process. This is the core concept behind our Smart Recipe Assistant.</a:t>
            </a:r>
            <a:endParaRPr lang="en-US" sz="1150" dirty="0"/>
          </a:p>
        </p:txBody>
      </p:sp>
      <p:sp>
        <p:nvSpPr>
          <p:cNvPr id="6" name="Text 4"/>
          <p:cNvSpPr/>
          <p:nvPr/>
        </p:nvSpPr>
        <p:spPr>
          <a:xfrm>
            <a:off x="513874" y="2293977"/>
            <a:ext cx="6622256" cy="704374"/>
          </a:xfrm>
          <a:prstGeom prst="rect">
            <a:avLst/>
          </a:prstGeom>
          <a:noFill/>
          <a:ln/>
        </p:spPr>
        <p:txBody>
          <a:bodyPr wrap="square" lIns="0" tIns="0" rIns="0" bIns="0" rtlCol="0" anchor="t"/>
          <a:lstStyle/>
          <a:p>
            <a:pPr algn="l" indent="0" marL="0">
              <a:lnSpc>
                <a:spcPts val="1800"/>
              </a:lnSpc>
              <a:buNone/>
            </a:pPr>
            <a:r>
              <a:rPr lang="en-US" sz="1150" dirty="0">
                <a:solidFill>
                  <a:srgbClr val="403011"/>
                </a:solidFill>
                <a:latin typeface="Brygada 1918" pitchFamily="34" charset="0"/>
                <a:ea typeface="Brygada 1918" pitchFamily="34" charset="-122"/>
                <a:cs typeface="Brygada 1918" pitchFamily="34" charset="-120"/>
              </a:rPr>
              <a:t>Leveraging the advanced capabilities of Google Gemini AI, this application is designed to transform traditional cooking methods, offering a truly hands-free experience for every home chef.</a:t>
            </a:r>
            <a:endParaRPr lang="en-US" sz="1150" dirty="0"/>
          </a:p>
        </p:txBody>
      </p:sp>
      <p:pic>
        <p:nvPicPr>
          <p:cNvPr id="7" name="Image 0" descr="preencoded.png">    </p:cNvPr>
          <p:cNvPicPr>
            <a:picLocks noChangeAspect="1"/>
          </p:cNvPicPr>
          <p:nvPr/>
        </p:nvPicPr>
        <p:blipFill>
          <a:blip r:embed="rId1"/>
          <a:stretch>
            <a:fillRect/>
          </a:stretch>
        </p:blipFill>
        <p:spPr>
          <a:xfrm>
            <a:off x="7501890" y="1490663"/>
            <a:ext cx="6622256" cy="6622256"/>
          </a:xfrm>
          <a:prstGeom prst="rect">
            <a:avLst/>
          </a:prstGeom>
        </p:spPr>
      </p:pic>
      <p:sp>
        <p:nvSpPr>
          <p:cNvPr id="8" name="Shape 5"/>
          <p:cNvSpPr/>
          <p:nvPr/>
        </p:nvSpPr>
        <p:spPr>
          <a:xfrm>
            <a:off x="513874" y="8443198"/>
            <a:ext cx="4436269" cy="876300"/>
          </a:xfrm>
          <a:prstGeom prst="roundRect">
            <a:avLst>
              <a:gd name="adj" fmla="val 8348"/>
            </a:avLst>
          </a:prstGeom>
          <a:solidFill>
            <a:srgbClr val="F6EBD4"/>
          </a:solidFill>
          <a:ln w="15240">
            <a:solidFill>
              <a:srgbClr val="626C3B"/>
            </a:solidFill>
            <a:prstDash val="solid"/>
          </a:ln>
        </p:spPr>
      </p:sp>
      <p:sp>
        <p:nvSpPr>
          <p:cNvPr id="9" name="Shape 6"/>
          <p:cNvSpPr/>
          <p:nvPr/>
        </p:nvSpPr>
        <p:spPr>
          <a:xfrm>
            <a:off x="498634" y="8443198"/>
            <a:ext cx="60960" cy="876300"/>
          </a:xfrm>
          <a:prstGeom prst="roundRect">
            <a:avLst>
              <a:gd name="adj" fmla="val 361308"/>
            </a:avLst>
          </a:prstGeom>
          <a:solidFill>
            <a:srgbClr val="626C3B"/>
          </a:solidFill>
          <a:ln/>
        </p:spPr>
      </p:sp>
      <p:sp>
        <p:nvSpPr>
          <p:cNvPr id="10" name="Text 7"/>
          <p:cNvSpPr/>
          <p:nvPr/>
        </p:nvSpPr>
        <p:spPr>
          <a:xfrm>
            <a:off x="721638" y="8605242"/>
            <a:ext cx="1984296" cy="229433"/>
          </a:xfrm>
          <a:prstGeom prst="rect">
            <a:avLst/>
          </a:prstGeom>
          <a:noFill/>
          <a:ln/>
        </p:spPr>
        <p:txBody>
          <a:bodyPr wrap="none" lIns="0" tIns="0" rIns="0" bIns="0" rtlCol="0" anchor="t"/>
          <a:lstStyle/>
          <a:p>
            <a:pPr algn="l" indent="0" marL="0">
              <a:lnSpc>
                <a:spcPts val="1800"/>
              </a:lnSpc>
              <a:buNone/>
            </a:pPr>
            <a:r>
              <a:rPr lang="en-US" sz="1400" dirty="0">
                <a:solidFill>
                  <a:srgbClr val="403011"/>
                </a:solidFill>
                <a:latin typeface="Brygada 1918 Semi Bold" pitchFamily="34" charset="0"/>
                <a:ea typeface="Brygada 1918 Semi Bold" pitchFamily="34" charset="-122"/>
                <a:cs typeface="Brygada 1918 Semi Bold" pitchFamily="34" charset="-120"/>
              </a:rPr>
              <a:t>AI &amp; Voice Recognition</a:t>
            </a:r>
            <a:endParaRPr lang="en-US" sz="1400" dirty="0"/>
          </a:p>
        </p:txBody>
      </p:sp>
      <p:sp>
        <p:nvSpPr>
          <p:cNvPr id="11" name="Text 8"/>
          <p:cNvSpPr/>
          <p:nvPr/>
        </p:nvSpPr>
        <p:spPr>
          <a:xfrm>
            <a:off x="721638" y="8922663"/>
            <a:ext cx="4066461" cy="234791"/>
          </a:xfrm>
          <a:prstGeom prst="rect">
            <a:avLst/>
          </a:prstGeom>
          <a:noFill/>
          <a:ln/>
        </p:spPr>
        <p:txBody>
          <a:bodyPr wrap="none" lIns="0" tIns="0" rIns="0" bIns="0" rtlCol="0" anchor="t"/>
          <a:lstStyle/>
          <a:p>
            <a:pPr algn="l" indent="0" marL="0">
              <a:lnSpc>
                <a:spcPts val="1800"/>
              </a:lnSpc>
              <a:buNone/>
            </a:pPr>
            <a:r>
              <a:rPr lang="en-US" sz="1150" dirty="0">
                <a:solidFill>
                  <a:srgbClr val="403011"/>
                </a:solidFill>
                <a:latin typeface="Brygada 1918" pitchFamily="34" charset="0"/>
                <a:ea typeface="Brygada 1918" pitchFamily="34" charset="-122"/>
                <a:cs typeface="Brygada 1918" pitchFamily="34" charset="-120"/>
              </a:rPr>
              <a:t>Integrated for effortless cooking.</a:t>
            </a:r>
            <a:endParaRPr lang="en-US" sz="1150" dirty="0"/>
          </a:p>
        </p:txBody>
      </p:sp>
      <p:sp>
        <p:nvSpPr>
          <p:cNvPr id="12" name="Shape 9"/>
          <p:cNvSpPr/>
          <p:nvPr/>
        </p:nvSpPr>
        <p:spPr>
          <a:xfrm>
            <a:off x="5096947" y="8443198"/>
            <a:ext cx="4436388" cy="876300"/>
          </a:xfrm>
          <a:prstGeom prst="roundRect">
            <a:avLst>
              <a:gd name="adj" fmla="val 8348"/>
            </a:avLst>
          </a:prstGeom>
          <a:solidFill>
            <a:srgbClr val="F6EBD4"/>
          </a:solidFill>
          <a:ln w="15240">
            <a:solidFill>
              <a:srgbClr val="83792E"/>
            </a:solidFill>
            <a:prstDash val="solid"/>
          </a:ln>
        </p:spPr>
      </p:sp>
      <p:sp>
        <p:nvSpPr>
          <p:cNvPr id="13" name="Shape 10"/>
          <p:cNvSpPr/>
          <p:nvPr/>
        </p:nvSpPr>
        <p:spPr>
          <a:xfrm>
            <a:off x="5081707" y="8443198"/>
            <a:ext cx="60960" cy="876300"/>
          </a:xfrm>
          <a:prstGeom prst="roundRect">
            <a:avLst>
              <a:gd name="adj" fmla="val 361308"/>
            </a:avLst>
          </a:prstGeom>
          <a:solidFill>
            <a:srgbClr val="83792E"/>
          </a:solidFill>
          <a:ln/>
        </p:spPr>
      </p:sp>
      <p:sp>
        <p:nvSpPr>
          <p:cNvPr id="14" name="Text 11"/>
          <p:cNvSpPr/>
          <p:nvPr/>
        </p:nvSpPr>
        <p:spPr>
          <a:xfrm>
            <a:off x="5304711" y="8605242"/>
            <a:ext cx="1835348" cy="229433"/>
          </a:xfrm>
          <a:prstGeom prst="rect">
            <a:avLst/>
          </a:prstGeom>
          <a:noFill/>
          <a:ln/>
        </p:spPr>
        <p:txBody>
          <a:bodyPr wrap="none" lIns="0" tIns="0" rIns="0" bIns="0" rtlCol="0" anchor="t"/>
          <a:lstStyle/>
          <a:p>
            <a:pPr algn="l" indent="0" marL="0">
              <a:lnSpc>
                <a:spcPts val="1800"/>
              </a:lnSpc>
              <a:buNone/>
            </a:pPr>
            <a:r>
              <a:rPr lang="en-US" sz="1400" dirty="0">
                <a:solidFill>
                  <a:srgbClr val="403011"/>
                </a:solidFill>
                <a:latin typeface="Brygada 1918 Semi Bold" pitchFamily="34" charset="0"/>
                <a:ea typeface="Brygada 1918 Semi Bold" pitchFamily="34" charset="-122"/>
                <a:cs typeface="Brygada 1918 Semi Bold" pitchFamily="34" charset="-120"/>
              </a:rPr>
              <a:t>Google Gemini AI</a:t>
            </a:r>
            <a:endParaRPr lang="en-US" sz="1400" dirty="0"/>
          </a:p>
        </p:txBody>
      </p:sp>
      <p:sp>
        <p:nvSpPr>
          <p:cNvPr id="15" name="Text 12"/>
          <p:cNvSpPr/>
          <p:nvPr/>
        </p:nvSpPr>
        <p:spPr>
          <a:xfrm>
            <a:off x="5304711" y="8922663"/>
            <a:ext cx="4066580" cy="234791"/>
          </a:xfrm>
          <a:prstGeom prst="rect">
            <a:avLst/>
          </a:prstGeom>
          <a:noFill/>
          <a:ln/>
        </p:spPr>
        <p:txBody>
          <a:bodyPr wrap="none" lIns="0" tIns="0" rIns="0" bIns="0" rtlCol="0" anchor="t"/>
          <a:lstStyle/>
          <a:p>
            <a:pPr algn="l" indent="0" marL="0">
              <a:lnSpc>
                <a:spcPts val="1800"/>
              </a:lnSpc>
              <a:buNone/>
            </a:pPr>
            <a:r>
              <a:rPr lang="en-US" sz="1150" dirty="0">
                <a:solidFill>
                  <a:srgbClr val="403011"/>
                </a:solidFill>
                <a:latin typeface="Brygada 1918" pitchFamily="34" charset="0"/>
                <a:ea typeface="Brygada 1918" pitchFamily="34" charset="-122"/>
                <a:cs typeface="Brygada 1918" pitchFamily="34" charset="-120"/>
              </a:rPr>
              <a:t>Powering intelligent recipe generation.</a:t>
            </a:r>
            <a:endParaRPr lang="en-US" sz="1150" dirty="0"/>
          </a:p>
        </p:txBody>
      </p:sp>
      <p:sp>
        <p:nvSpPr>
          <p:cNvPr id="16" name="Shape 13"/>
          <p:cNvSpPr/>
          <p:nvPr/>
        </p:nvSpPr>
        <p:spPr>
          <a:xfrm>
            <a:off x="9680138" y="8443198"/>
            <a:ext cx="4436388" cy="876300"/>
          </a:xfrm>
          <a:prstGeom prst="roundRect">
            <a:avLst>
              <a:gd name="adj" fmla="val 8348"/>
            </a:avLst>
          </a:prstGeom>
          <a:solidFill>
            <a:srgbClr val="F6EBD4"/>
          </a:solidFill>
          <a:ln w="15240">
            <a:solidFill>
              <a:srgbClr val="E8AF3B"/>
            </a:solidFill>
            <a:prstDash val="solid"/>
          </a:ln>
        </p:spPr>
      </p:sp>
      <p:sp>
        <p:nvSpPr>
          <p:cNvPr id="17" name="Shape 14"/>
          <p:cNvSpPr/>
          <p:nvPr/>
        </p:nvSpPr>
        <p:spPr>
          <a:xfrm>
            <a:off x="9664898" y="8443198"/>
            <a:ext cx="60960" cy="876300"/>
          </a:xfrm>
          <a:prstGeom prst="roundRect">
            <a:avLst>
              <a:gd name="adj" fmla="val 361308"/>
            </a:avLst>
          </a:prstGeom>
          <a:solidFill>
            <a:srgbClr val="E8AF3B"/>
          </a:solidFill>
          <a:ln/>
        </p:spPr>
      </p:sp>
      <p:sp>
        <p:nvSpPr>
          <p:cNvPr id="18" name="Text 15"/>
          <p:cNvSpPr/>
          <p:nvPr/>
        </p:nvSpPr>
        <p:spPr>
          <a:xfrm>
            <a:off x="9887903" y="8605242"/>
            <a:ext cx="1835348" cy="229433"/>
          </a:xfrm>
          <a:prstGeom prst="rect">
            <a:avLst/>
          </a:prstGeom>
          <a:noFill/>
          <a:ln/>
        </p:spPr>
        <p:txBody>
          <a:bodyPr wrap="none" lIns="0" tIns="0" rIns="0" bIns="0" rtlCol="0" anchor="t"/>
          <a:lstStyle/>
          <a:p>
            <a:pPr algn="l" indent="0" marL="0">
              <a:lnSpc>
                <a:spcPts val="1800"/>
              </a:lnSpc>
              <a:buNone/>
            </a:pPr>
            <a:r>
              <a:rPr lang="en-US" sz="1400" dirty="0">
                <a:solidFill>
                  <a:srgbClr val="403011"/>
                </a:solidFill>
                <a:latin typeface="Brygada 1918 Semi Bold" pitchFamily="34" charset="0"/>
                <a:ea typeface="Brygada 1918 Semi Bold" pitchFamily="34" charset="-122"/>
                <a:cs typeface="Brygada 1918 Semi Bold" pitchFamily="34" charset="-120"/>
              </a:rPr>
              <a:t>Hands-Free Cooking</a:t>
            </a:r>
            <a:endParaRPr lang="en-US" sz="1400" dirty="0"/>
          </a:p>
        </p:txBody>
      </p:sp>
      <p:sp>
        <p:nvSpPr>
          <p:cNvPr id="19" name="Text 16"/>
          <p:cNvSpPr/>
          <p:nvPr/>
        </p:nvSpPr>
        <p:spPr>
          <a:xfrm>
            <a:off x="9887903" y="8922663"/>
            <a:ext cx="4066580" cy="234791"/>
          </a:xfrm>
          <a:prstGeom prst="rect">
            <a:avLst/>
          </a:prstGeom>
          <a:noFill/>
          <a:ln/>
        </p:spPr>
        <p:txBody>
          <a:bodyPr wrap="none" lIns="0" tIns="0" rIns="0" bIns="0" rtlCol="0" anchor="t"/>
          <a:lstStyle/>
          <a:p>
            <a:pPr algn="l" indent="0" marL="0">
              <a:lnSpc>
                <a:spcPts val="1800"/>
              </a:lnSpc>
              <a:buNone/>
            </a:pPr>
            <a:r>
              <a:rPr lang="en-US" sz="1150" dirty="0">
                <a:solidFill>
                  <a:srgbClr val="403011"/>
                </a:solidFill>
                <a:latin typeface="Brygada 1918" pitchFamily="34" charset="0"/>
                <a:ea typeface="Brygada 1918" pitchFamily="34" charset="-122"/>
                <a:cs typeface="Brygada 1918" pitchFamily="34" charset="-120"/>
              </a:rPr>
              <a:t>Our ultimate goal for user convenience.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80190" y="814268"/>
            <a:ext cx="2261235" cy="426244"/>
          </a:xfrm>
          <a:prstGeom prst="roundRect">
            <a:avLst>
              <a:gd name="adj" fmla="val 63859"/>
            </a:avLst>
          </a:prstGeom>
          <a:solidFill>
            <a:srgbClr val="EAEDDE"/>
          </a:solidFill>
          <a:ln/>
        </p:spPr>
      </p:sp>
      <p:sp>
        <p:nvSpPr>
          <p:cNvPr id="4" name="Text 1"/>
          <p:cNvSpPr/>
          <p:nvPr/>
        </p:nvSpPr>
        <p:spPr>
          <a:xfrm>
            <a:off x="6416278" y="882253"/>
            <a:ext cx="1989058" cy="290274"/>
          </a:xfrm>
          <a:prstGeom prst="rect">
            <a:avLst/>
          </a:prstGeom>
          <a:noFill/>
          <a:ln/>
        </p:spPr>
        <p:txBody>
          <a:bodyPr wrap="none" lIns="0" tIns="0" rIns="0" bIns="0" rtlCol="0" anchor="t"/>
          <a:lstStyle/>
          <a:p>
            <a:pPr algn="l" indent="0" marL="0">
              <a:lnSpc>
                <a:spcPts val="2250"/>
              </a:lnSpc>
              <a:buNone/>
            </a:pPr>
            <a:r>
              <a:rPr lang="en-US" sz="1400" dirty="0">
                <a:solidFill>
                  <a:srgbClr val="403011"/>
                </a:solidFill>
                <a:latin typeface="Brygada 1918" pitchFamily="34" charset="0"/>
                <a:ea typeface="Brygada 1918" pitchFamily="34" charset="-122"/>
                <a:cs typeface="Brygada 1918" pitchFamily="34" charset="-120"/>
              </a:rPr>
              <a:t>PROBLEM STATEMENT</a:t>
            </a:r>
            <a:endParaRPr lang="en-US" sz="1400" dirty="0"/>
          </a:p>
        </p:txBody>
      </p:sp>
      <p:sp>
        <p:nvSpPr>
          <p:cNvPr id="5" name="Text 2"/>
          <p:cNvSpPr/>
          <p:nvPr/>
        </p:nvSpPr>
        <p:spPr>
          <a:xfrm>
            <a:off x="6280190" y="1331238"/>
            <a:ext cx="6711077" cy="566976"/>
          </a:xfrm>
          <a:prstGeom prst="rect">
            <a:avLst/>
          </a:prstGeom>
          <a:noFill/>
          <a:ln/>
        </p:spPr>
        <p:txBody>
          <a:bodyPr wrap="none" lIns="0" tIns="0" rIns="0" bIns="0" rtlCol="0" anchor="t"/>
          <a:lstStyle/>
          <a:p>
            <a:pPr algn="l" indent="0" marL="0">
              <a:lnSpc>
                <a:spcPts val="4450"/>
              </a:lnSpc>
              <a:buNone/>
            </a:pPr>
            <a:r>
              <a:rPr lang="en-US" sz="3550" dirty="0">
                <a:solidFill>
                  <a:srgbClr val="403011"/>
                </a:solidFill>
                <a:latin typeface="Brygada 1918 Semi Bold" pitchFamily="34" charset="0"/>
                <a:ea typeface="Brygada 1918 Semi Bold" pitchFamily="34" charset="-122"/>
                <a:cs typeface="Brygada 1918 Semi Bold" pitchFamily="34" charset="-120"/>
              </a:rPr>
              <a:t>Addressing Kitchen Challenges</a:t>
            </a:r>
            <a:endParaRPr lang="en-US" sz="35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0190" y="2238375"/>
            <a:ext cx="680442" cy="680442"/>
          </a:xfrm>
          <a:prstGeom prst="rect">
            <a:avLst/>
          </a:prstGeom>
        </p:spPr>
      </p:pic>
      <p:sp>
        <p:nvSpPr>
          <p:cNvPr id="7" name="Text 3"/>
          <p:cNvSpPr/>
          <p:nvPr/>
        </p:nvSpPr>
        <p:spPr>
          <a:xfrm>
            <a:off x="6280190" y="3202305"/>
            <a:ext cx="3480078" cy="354330"/>
          </a:xfrm>
          <a:prstGeom prst="rect">
            <a:avLst/>
          </a:prstGeom>
          <a:noFill/>
          <a:ln/>
        </p:spPr>
        <p:txBody>
          <a:bodyPr wrap="none" lIns="0" tIns="0" rIns="0" bIns="0" rtlCol="0" anchor="t"/>
          <a:lstStyle/>
          <a:p>
            <a:pPr algn="l" indent="0" marL="0">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The Messy Hand Dilemma</a:t>
            </a:r>
            <a:endParaRPr lang="en-US" sz="2200" dirty="0"/>
          </a:p>
        </p:txBody>
      </p:sp>
      <p:sp>
        <p:nvSpPr>
          <p:cNvPr id="8" name="Text 4"/>
          <p:cNvSpPr/>
          <p:nvPr/>
        </p:nvSpPr>
        <p:spPr>
          <a:xfrm>
            <a:off x="6280190" y="3692723"/>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Touching mobile screens during cooking is unhygienic and risks damaging devices. Our solution removes this common kitchen frustration.</a:t>
            </a:r>
            <a:endParaRPr lang="en-US" sz="17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0190" y="5235059"/>
            <a:ext cx="680442" cy="680442"/>
          </a:xfrm>
          <a:prstGeom prst="rect">
            <a:avLst/>
          </a:prstGeom>
        </p:spPr>
      </p:pic>
      <p:sp>
        <p:nvSpPr>
          <p:cNvPr id="10" name="Text 5"/>
          <p:cNvSpPr/>
          <p:nvPr/>
        </p:nvSpPr>
        <p:spPr>
          <a:xfrm>
            <a:off x="6280190" y="6198989"/>
            <a:ext cx="3804880" cy="354330"/>
          </a:xfrm>
          <a:prstGeom prst="rect">
            <a:avLst/>
          </a:prstGeom>
          <a:noFill/>
          <a:ln/>
        </p:spPr>
        <p:txBody>
          <a:bodyPr wrap="none" lIns="0" tIns="0" rIns="0" bIns="0" rtlCol="0" anchor="t"/>
          <a:lstStyle/>
          <a:p>
            <a:pPr algn="l" indent="0" marL="0">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Lack of Dynamic Interaction</a:t>
            </a:r>
            <a:endParaRPr lang="en-US" sz="2200" dirty="0"/>
          </a:p>
        </p:txBody>
      </p:sp>
      <p:sp>
        <p:nvSpPr>
          <p:cNvPr id="11" name="Text 6"/>
          <p:cNvSpPr/>
          <p:nvPr/>
        </p:nvSpPr>
        <p:spPr>
          <a:xfrm>
            <a:off x="6280190" y="668940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Traditional recipe apps offer only static text, lacking the engaging, step-by-step vocal guidance that modern users desire.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20528"/>
          </a:xfrm>
          <a:prstGeom prst="rect">
            <a:avLst/>
          </a:prstGeom>
        </p:spPr>
      </p:pic>
      <p:sp>
        <p:nvSpPr>
          <p:cNvPr id="3" name="Shape 0"/>
          <p:cNvSpPr/>
          <p:nvPr/>
        </p:nvSpPr>
        <p:spPr>
          <a:xfrm>
            <a:off x="618768" y="2835116"/>
            <a:ext cx="1832491" cy="332184"/>
          </a:xfrm>
          <a:prstGeom prst="roundRect">
            <a:avLst>
              <a:gd name="adj" fmla="val 63871"/>
            </a:avLst>
          </a:prstGeom>
          <a:solidFill>
            <a:srgbClr val="EAEDDE"/>
          </a:solidFill>
          <a:ln/>
        </p:spPr>
      </p:sp>
      <p:sp>
        <p:nvSpPr>
          <p:cNvPr id="4" name="Text 1"/>
          <p:cNvSpPr/>
          <p:nvPr/>
        </p:nvSpPr>
        <p:spPr>
          <a:xfrm>
            <a:off x="724852" y="2888099"/>
            <a:ext cx="1620322" cy="226219"/>
          </a:xfrm>
          <a:prstGeom prst="rect">
            <a:avLst/>
          </a:prstGeom>
          <a:noFill/>
          <a:ln/>
        </p:spPr>
        <p:txBody>
          <a:bodyPr wrap="none" lIns="0" tIns="0" rIns="0" bIns="0" rtlCol="0" anchor="t"/>
          <a:lstStyle/>
          <a:p>
            <a:pPr algn="l" indent="0" marL="0">
              <a:lnSpc>
                <a:spcPts val="1750"/>
              </a:lnSpc>
              <a:buNone/>
            </a:pPr>
            <a:r>
              <a:rPr lang="en-US" sz="1100" dirty="0">
                <a:solidFill>
                  <a:srgbClr val="403011"/>
                </a:solidFill>
                <a:latin typeface="Brygada 1918" pitchFamily="34" charset="0"/>
                <a:ea typeface="Brygada 1918" pitchFamily="34" charset="-122"/>
                <a:cs typeface="Brygada 1918" pitchFamily="34" charset="-120"/>
              </a:rPr>
              <a:t>TECHNICAL OVERVIEW</a:t>
            </a:r>
            <a:endParaRPr lang="en-US" sz="1100" dirty="0"/>
          </a:p>
        </p:txBody>
      </p:sp>
      <p:sp>
        <p:nvSpPr>
          <p:cNvPr id="5" name="Text 2"/>
          <p:cNvSpPr/>
          <p:nvPr/>
        </p:nvSpPr>
        <p:spPr>
          <a:xfrm>
            <a:off x="618768" y="3238024"/>
            <a:ext cx="3536156" cy="441960"/>
          </a:xfrm>
          <a:prstGeom prst="rect">
            <a:avLst/>
          </a:prstGeom>
          <a:noFill/>
          <a:ln/>
        </p:spPr>
        <p:txBody>
          <a:bodyPr wrap="none" lIns="0" tIns="0" rIns="0" bIns="0" rtlCol="0" anchor="t"/>
          <a:lstStyle/>
          <a:p>
            <a:pPr algn="l" indent="0" marL="0">
              <a:lnSpc>
                <a:spcPts val="3450"/>
              </a:lnSpc>
              <a:buNone/>
            </a:pPr>
            <a:r>
              <a:rPr lang="en-US" sz="2750" dirty="0">
                <a:solidFill>
                  <a:srgbClr val="403011"/>
                </a:solidFill>
                <a:latin typeface="Brygada 1918 Semi Bold" pitchFamily="34" charset="0"/>
                <a:ea typeface="Brygada 1918 Semi Bold" pitchFamily="34" charset="-122"/>
                <a:cs typeface="Brygada 1918 Semi Bold" pitchFamily="34" charset="-120"/>
              </a:rPr>
              <a:t>System Architecture</a:t>
            </a:r>
            <a:endParaRPr lang="en-US" sz="2750" dirty="0"/>
          </a:p>
        </p:txBody>
      </p:sp>
      <p:sp>
        <p:nvSpPr>
          <p:cNvPr id="6" name="Shape 3"/>
          <p:cNvSpPr/>
          <p:nvPr/>
        </p:nvSpPr>
        <p:spPr>
          <a:xfrm>
            <a:off x="618768" y="3945136"/>
            <a:ext cx="6607969" cy="1741289"/>
          </a:xfrm>
          <a:prstGeom prst="roundRect">
            <a:avLst>
              <a:gd name="adj" fmla="val 15231"/>
            </a:avLst>
          </a:prstGeom>
          <a:solidFill>
            <a:srgbClr val="626C3B"/>
          </a:solidFill>
          <a:ln w="7620">
            <a:solidFill>
              <a:srgbClr val="626C3B"/>
            </a:solidFill>
            <a:prstDash val="solid"/>
          </a:ln>
        </p:spPr>
      </p:sp>
      <p:sp>
        <p:nvSpPr>
          <p:cNvPr id="7" name="Shape 4"/>
          <p:cNvSpPr/>
          <p:nvPr/>
        </p:nvSpPr>
        <p:spPr>
          <a:xfrm>
            <a:off x="803196" y="4129564"/>
            <a:ext cx="530423" cy="530423"/>
          </a:xfrm>
          <a:prstGeom prst="roundRect">
            <a:avLst>
              <a:gd name="adj" fmla="val 17237348"/>
            </a:avLst>
          </a:prstGeom>
          <a:solidFill>
            <a:srgbClr val="626C3B"/>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9047" y="4275415"/>
            <a:ext cx="238601" cy="238601"/>
          </a:xfrm>
          <a:prstGeom prst="rect">
            <a:avLst/>
          </a:prstGeom>
        </p:spPr>
      </p:pic>
      <p:sp>
        <p:nvSpPr>
          <p:cNvPr id="9" name="Text 5"/>
          <p:cNvSpPr/>
          <p:nvPr/>
        </p:nvSpPr>
        <p:spPr>
          <a:xfrm>
            <a:off x="803196" y="4836795"/>
            <a:ext cx="2210038" cy="276225"/>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Brygada 1918 Semi Bold" pitchFamily="34" charset="0"/>
                <a:ea typeface="Brygada 1918 Semi Bold" pitchFamily="34" charset="-122"/>
                <a:cs typeface="Brygada 1918 Semi Bold" pitchFamily="34" charset="-120"/>
              </a:rPr>
              <a:t>Frontend</a:t>
            </a:r>
            <a:endParaRPr lang="en-US" sz="1700" dirty="0"/>
          </a:p>
        </p:txBody>
      </p:sp>
      <p:sp>
        <p:nvSpPr>
          <p:cNvPr id="10" name="Text 6"/>
          <p:cNvSpPr/>
          <p:nvPr/>
        </p:nvSpPr>
        <p:spPr>
          <a:xfrm>
            <a:off x="803196" y="5219105"/>
            <a:ext cx="6239113" cy="282893"/>
          </a:xfrm>
          <a:prstGeom prst="rect">
            <a:avLst/>
          </a:prstGeom>
          <a:noFill/>
          <a:ln/>
        </p:spPr>
        <p:txBody>
          <a:bodyPr wrap="none" lIns="0" tIns="0" rIns="0" bIns="0" rtlCol="0" anchor="t"/>
          <a:lstStyle/>
          <a:p>
            <a:pPr algn="l" indent="0" marL="0">
              <a:lnSpc>
                <a:spcPts val="2200"/>
              </a:lnSpc>
              <a:buNone/>
            </a:pPr>
            <a:r>
              <a:rPr lang="en-US" sz="1350" dirty="0">
                <a:solidFill>
                  <a:srgbClr val="FFFFFF"/>
                </a:solidFill>
                <a:latin typeface="Brygada 1918" pitchFamily="34" charset="0"/>
                <a:ea typeface="Brygada 1918" pitchFamily="34" charset="-122"/>
                <a:cs typeface="Brygada 1918" pitchFamily="34" charset="-120"/>
              </a:rPr>
              <a:t>Developed on Android using Java/XML for a native user experience.</a:t>
            </a:r>
            <a:endParaRPr lang="en-US" sz="1350" dirty="0"/>
          </a:p>
        </p:txBody>
      </p:sp>
      <p:sp>
        <p:nvSpPr>
          <p:cNvPr id="11" name="Shape 7"/>
          <p:cNvSpPr/>
          <p:nvPr/>
        </p:nvSpPr>
        <p:spPr>
          <a:xfrm>
            <a:off x="7403544" y="3945136"/>
            <a:ext cx="6608088" cy="1741289"/>
          </a:xfrm>
          <a:prstGeom prst="roundRect">
            <a:avLst>
              <a:gd name="adj" fmla="val 15231"/>
            </a:avLst>
          </a:prstGeom>
          <a:solidFill>
            <a:srgbClr val="626C3B"/>
          </a:solidFill>
          <a:ln w="7620">
            <a:solidFill>
              <a:srgbClr val="83792E"/>
            </a:solidFill>
            <a:prstDash val="solid"/>
          </a:ln>
        </p:spPr>
      </p:sp>
      <p:sp>
        <p:nvSpPr>
          <p:cNvPr id="12" name="Shape 8"/>
          <p:cNvSpPr/>
          <p:nvPr/>
        </p:nvSpPr>
        <p:spPr>
          <a:xfrm>
            <a:off x="7587972" y="4129564"/>
            <a:ext cx="530423" cy="530423"/>
          </a:xfrm>
          <a:prstGeom prst="roundRect">
            <a:avLst>
              <a:gd name="adj" fmla="val 17237348"/>
            </a:avLst>
          </a:prstGeom>
          <a:solidFill>
            <a:srgbClr val="83792E"/>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33824" y="4275415"/>
            <a:ext cx="238601" cy="238601"/>
          </a:xfrm>
          <a:prstGeom prst="rect">
            <a:avLst/>
          </a:prstGeom>
        </p:spPr>
      </p:pic>
      <p:sp>
        <p:nvSpPr>
          <p:cNvPr id="14" name="Text 9"/>
          <p:cNvSpPr/>
          <p:nvPr/>
        </p:nvSpPr>
        <p:spPr>
          <a:xfrm>
            <a:off x="7587972" y="4836795"/>
            <a:ext cx="2210038" cy="276225"/>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Brygada 1918 Semi Bold" pitchFamily="34" charset="0"/>
                <a:ea typeface="Brygada 1918 Semi Bold" pitchFamily="34" charset="-122"/>
                <a:cs typeface="Brygada 1918 Semi Bold" pitchFamily="34" charset="-120"/>
              </a:rPr>
              <a:t>AI Backend</a:t>
            </a:r>
            <a:endParaRPr lang="en-US" sz="1700" dirty="0"/>
          </a:p>
        </p:txBody>
      </p:sp>
      <p:sp>
        <p:nvSpPr>
          <p:cNvPr id="15" name="Text 10"/>
          <p:cNvSpPr/>
          <p:nvPr/>
        </p:nvSpPr>
        <p:spPr>
          <a:xfrm>
            <a:off x="7587972" y="5219105"/>
            <a:ext cx="6239232" cy="282893"/>
          </a:xfrm>
          <a:prstGeom prst="rect">
            <a:avLst/>
          </a:prstGeom>
          <a:noFill/>
          <a:ln/>
        </p:spPr>
        <p:txBody>
          <a:bodyPr wrap="none" lIns="0" tIns="0" rIns="0" bIns="0" rtlCol="0" anchor="t"/>
          <a:lstStyle/>
          <a:p>
            <a:pPr algn="l" indent="0" marL="0">
              <a:lnSpc>
                <a:spcPts val="2200"/>
              </a:lnSpc>
              <a:buNone/>
            </a:pPr>
            <a:r>
              <a:rPr lang="en-US" sz="1350" dirty="0">
                <a:solidFill>
                  <a:srgbClr val="FFFFFF"/>
                </a:solidFill>
                <a:latin typeface="Brygada 1918" pitchFamily="34" charset="0"/>
                <a:ea typeface="Brygada 1918" pitchFamily="34" charset="-122"/>
                <a:cs typeface="Brygada 1918" pitchFamily="34" charset="-120"/>
              </a:rPr>
              <a:t>Utilises the Google Gemini Pro API for intelligent recipe generation.</a:t>
            </a:r>
            <a:endParaRPr lang="en-US" sz="1350" dirty="0"/>
          </a:p>
        </p:txBody>
      </p:sp>
      <p:sp>
        <p:nvSpPr>
          <p:cNvPr id="16" name="Shape 11"/>
          <p:cNvSpPr/>
          <p:nvPr/>
        </p:nvSpPr>
        <p:spPr>
          <a:xfrm>
            <a:off x="618768" y="5863233"/>
            <a:ext cx="6607969" cy="1741289"/>
          </a:xfrm>
          <a:prstGeom prst="roundRect">
            <a:avLst>
              <a:gd name="adj" fmla="val 15231"/>
            </a:avLst>
          </a:prstGeom>
          <a:solidFill>
            <a:srgbClr val="626C3B"/>
          </a:solidFill>
          <a:ln w="7620">
            <a:solidFill>
              <a:srgbClr val="E8AF3B"/>
            </a:solidFill>
            <a:prstDash val="solid"/>
          </a:ln>
        </p:spPr>
      </p:sp>
      <p:sp>
        <p:nvSpPr>
          <p:cNvPr id="17" name="Shape 12"/>
          <p:cNvSpPr/>
          <p:nvPr/>
        </p:nvSpPr>
        <p:spPr>
          <a:xfrm>
            <a:off x="803196" y="6047661"/>
            <a:ext cx="530423" cy="530423"/>
          </a:xfrm>
          <a:prstGeom prst="roundRect">
            <a:avLst>
              <a:gd name="adj" fmla="val 17237348"/>
            </a:avLst>
          </a:prstGeom>
          <a:solidFill>
            <a:srgbClr val="E8AF3B"/>
          </a:solidFill>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9047" y="6193512"/>
            <a:ext cx="238601" cy="238601"/>
          </a:xfrm>
          <a:prstGeom prst="rect">
            <a:avLst/>
          </a:prstGeom>
        </p:spPr>
      </p:pic>
      <p:sp>
        <p:nvSpPr>
          <p:cNvPr id="19" name="Text 13"/>
          <p:cNvSpPr/>
          <p:nvPr/>
        </p:nvSpPr>
        <p:spPr>
          <a:xfrm>
            <a:off x="803196" y="6754892"/>
            <a:ext cx="2210038" cy="276225"/>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Brygada 1918 Semi Bold" pitchFamily="34" charset="0"/>
                <a:ea typeface="Brygada 1918 Semi Bold" pitchFamily="34" charset="-122"/>
                <a:cs typeface="Brygada 1918 Semi Bold" pitchFamily="34" charset="-120"/>
              </a:rPr>
              <a:t>Local Storage</a:t>
            </a:r>
            <a:endParaRPr lang="en-US" sz="1700" dirty="0"/>
          </a:p>
        </p:txBody>
      </p:sp>
      <p:sp>
        <p:nvSpPr>
          <p:cNvPr id="20" name="Text 14"/>
          <p:cNvSpPr/>
          <p:nvPr/>
        </p:nvSpPr>
        <p:spPr>
          <a:xfrm>
            <a:off x="803196" y="7137202"/>
            <a:ext cx="6239113" cy="282893"/>
          </a:xfrm>
          <a:prstGeom prst="rect">
            <a:avLst/>
          </a:prstGeom>
          <a:noFill/>
          <a:ln/>
        </p:spPr>
        <p:txBody>
          <a:bodyPr wrap="none" lIns="0" tIns="0" rIns="0" bIns="0" rtlCol="0" anchor="t"/>
          <a:lstStyle/>
          <a:p>
            <a:pPr algn="l" indent="0" marL="0">
              <a:lnSpc>
                <a:spcPts val="2200"/>
              </a:lnSpc>
              <a:buNone/>
            </a:pPr>
            <a:r>
              <a:rPr lang="en-US" sz="1350" dirty="0">
                <a:solidFill>
                  <a:srgbClr val="FFFFFF"/>
                </a:solidFill>
                <a:latin typeface="Brygada 1918" pitchFamily="34" charset="0"/>
                <a:ea typeface="Brygada 1918" pitchFamily="34" charset="-122"/>
                <a:cs typeface="Brygada 1918" pitchFamily="34" charset="-120"/>
              </a:rPr>
              <a:t>File system for offline access to saved recipes.</a:t>
            </a:r>
            <a:endParaRPr lang="en-US" sz="1350" dirty="0"/>
          </a:p>
        </p:txBody>
      </p:sp>
      <p:sp>
        <p:nvSpPr>
          <p:cNvPr id="21" name="Shape 15"/>
          <p:cNvSpPr/>
          <p:nvPr/>
        </p:nvSpPr>
        <p:spPr>
          <a:xfrm>
            <a:off x="7403544" y="5863233"/>
            <a:ext cx="6608088" cy="1741289"/>
          </a:xfrm>
          <a:prstGeom prst="roundRect">
            <a:avLst>
              <a:gd name="adj" fmla="val 15231"/>
            </a:avLst>
          </a:prstGeom>
          <a:solidFill>
            <a:srgbClr val="626C3B"/>
          </a:solidFill>
          <a:ln w="7620">
            <a:solidFill>
              <a:srgbClr val="CC914D"/>
            </a:solidFill>
            <a:prstDash val="solid"/>
          </a:ln>
        </p:spPr>
      </p:sp>
      <p:sp>
        <p:nvSpPr>
          <p:cNvPr id="22" name="Shape 16"/>
          <p:cNvSpPr/>
          <p:nvPr/>
        </p:nvSpPr>
        <p:spPr>
          <a:xfrm>
            <a:off x="7587972" y="6047661"/>
            <a:ext cx="530423" cy="530423"/>
          </a:xfrm>
          <a:prstGeom prst="roundRect">
            <a:avLst>
              <a:gd name="adj" fmla="val 17237348"/>
            </a:avLst>
          </a:prstGeom>
          <a:solidFill>
            <a:srgbClr val="CC914D"/>
          </a:solidFill>
          <a:ln/>
        </p:spPr>
      </p:sp>
      <p:pic>
        <p:nvPicPr>
          <p:cNvPr id="2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3824" y="6193512"/>
            <a:ext cx="238601" cy="238601"/>
          </a:xfrm>
          <a:prstGeom prst="rect">
            <a:avLst/>
          </a:prstGeom>
        </p:spPr>
      </p:pic>
      <p:sp>
        <p:nvSpPr>
          <p:cNvPr id="24" name="Text 17"/>
          <p:cNvSpPr/>
          <p:nvPr/>
        </p:nvSpPr>
        <p:spPr>
          <a:xfrm>
            <a:off x="7587972" y="6754892"/>
            <a:ext cx="2210038" cy="276225"/>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Brygada 1918 Semi Bold" pitchFamily="34" charset="0"/>
                <a:ea typeface="Brygada 1918 Semi Bold" pitchFamily="34" charset="-122"/>
                <a:cs typeface="Brygada 1918 Semi Bold" pitchFamily="34" charset="-120"/>
              </a:rPr>
              <a:t>Connectivity</a:t>
            </a:r>
            <a:endParaRPr lang="en-US" sz="1700" dirty="0"/>
          </a:p>
        </p:txBody>
      </p:sp>
      <p:sp>
        <p:nvSpPr>
          <p:cNvPr id="25" name="Text 18"/>
          <p:cNvSpPr/>
          <p:nvPr/>
        </p:nvSpPr>
        <p:spPr>
          <a:xfrm>
            <a:off x="7587972" y="7137202"/>
            <a:ext cx="6239232" cy="282893"/>
          </a:xfrm>
          <a:prstGeom prst="rect">
            <a:avLst/>
          </a:prstGeom>
          <a:noFill/>
          <a:ln/>
        </p:spPr>
        <p:txBody>
          <a:bodyPr wrap="none" lIns="0" tIns="0" rIns="0" bIns="0" rtlCol="0" anchor="t"/>
          <a:lstStyle/>
          <a:p>
            <a:pPr algn="l" indent="0" marL="0">
              <a:lnSpc>
                <a:spcPts val="2200"/>
              </a:lnSpc>
              <a:buNone/>
            </a:pPr>
            <a:r>
              <a:rPr lang="en-US" sz="1350" dirty="0">
                <a:solidFill>
                  <a:srgbClr val="FFFFFF"/>
                </a:solidFill>
                <a:latin typeface="Brygada 1918" pitchFamily="34" charset="0"/>
                <a:ea typeface="Brygada 1918" pitchFamily="34" charset="-122"/>
                <a:cs typeface="Brygada 1918" pitchFamily="34" charset="-120"/>
              </a:rPr>
              <a:t>Ensures seamless data flow between the user interface and the AI model.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32696"/>
          </a:xfrm>
          <a:prstGeom prst="rect">
            <a:avLst/>
          </a:prstGeom>
        </p:spPr>
      </p:pic>
      <p:sp>
        <p:nvSpPr>
          <p:cNvPr id="3" name="Shape 0"/>
          <p:cNvSpPr/>
          <p:nvPr/>
        </p:nvSpPr>
        <p:spPr>
          <a:xfrm>
            <a:off x="792361" y="622578"/>
            <a:ext cx="2295763" cy="425410"/>
          </a:xfrm>
          <a:prstGeom prst="roundRect">
            <a:avLst>
              <a:gd name="adj" fmla="val 63865"/>
            </a:avLst>
          </a:prstGeom>
          <a:solidFill>
            <a:srgbClr val="EAEDDE"/>
          </a:solidFill>
          <a:ln/>
        </p:spPr>
      </p:sp>
      <p:sp>
        <p:nvSpPr>
          <p:cNvPr id="4" name="Text 1"/>
          <p:cNvSpPr/>
          <p:nvPr/>
        </p:nvSpPr>
        <p:spPr>
          <a:xfrm>
            <a:off x="928092" y="690443"/>
            <a:ext cx="2024301" cy="289679"/>
          </a:xfrm>
          <a:prstGeom prst="rect">
            <a:avLst/>
          </a:prstGeom>
          <a:noFill/>
          <a:ln/>
        </p:spPr>
        <p:txBody>
          <a:bodyPr wrap="none" lIns="0" tIns="0" rIns="0" bIns="0" rtlCol="0" anchor="t"/>
          <a:lstStyle/>
          <a:p>
            <a:pPr algn="l" indent="0" marL="0">
              <a:lnSpc>
                <a:spcPts val="2250"/>
              </a:lnSpc>
              <a:buNone/>
            </a:pPr>
            <a:r>
              <a:rPr lang="en-US" sz="1400" dirty="0">
                <a:solidFill>
                  <a:srgbClr val="403011"/>
                </a:solidFill>
                <a:latin typeface="Brygada 1918" pitchFamily="34" charset="0"/>
                <a:ea typeface="Brygada 1918" pitchFamily="34" charset="-122"/>
                <a:cs typeface="Brygada 1918" pitchFamily="34" charset="-120"/>
              </a:rPr>
              <a:t>CORE FUNCTIONALITY</a:t>
            </a:r>
            <a:endParaRPr lang="en-US" sz="1400" dirty="0"/>
          </a:p>
        </p:txBody>
      </p:sp>
      <p:sp>
        <p:nvSpPr>
          <p:cNvPr id="5" name="Text 2"/>
          <p:cNvSpPr/>
          <p:nvPr/>
        </p:nvSpPr>
        <p:spPr>
          <a:xfrm>
            <a:off x="792361" y="1138476"/>
            <a:ext cx="7559278" cy="1131808"/>
          </a:xfrm>
          <a:prstGeom prst="rect">
            <a:avLst/>
          </a:prstGeom>
          <a:noFill/>
          <a:ln/>
        </p:spPr>
        <p:txBody>
          <a:bodyPr wrap="square" lIns="0" tIns="0" rIns="0" bIns="0" rtlCol="0" anchor="t"/>
          <a:lstStyle/>
          <a:p>
            <a:pPr algn="l" indent="0" marL="0">
              <a:lnSpc>
                <a:spcPts val="4450"/>
              </a:lnSpc>
              <a:buNone/>
            </a:pPr>
            <a:r>
              <a:rPr lang="en-US" sz="3550" dirty="0">
                <a:solidFill>
                  <a:srgbClr val="403011"/>
                </a:solidFill>
                <a:latin typeface="Brygada 1918 Semi Bold" pitchFamily="34" charset="0"/>
                <a:ea typeface="Brygada 1918 Semi Bold" pitchFamily="34" charset="-122"/>
                <a:cs typeface="Brygada 1918 Semi Bold" pitchFamily="34" charset="-120"/>
              </a:rPr>
              <a:t>Key Features: The "Smart" Advantage</a:t>
            </a:r>
            <a:endParaRPr lang="en-US" sz="3550" dirty="0"/>
          </a:p>
        </p:txBody>
      </p:sp>
      <p:pic>
        <p:nvPicPr>
          <p:cNvPr id="6" name="Image 1" descr="preencoded.png">    </p:cNvPr>
          <p:cNvPicPr>
            <a:picLocks noChangeAspect="1"/>
          </p:cNvPicPr>
          <p:nvPr/>
        </p:nvPicPr>
        <p:blipFill>
          <a:blip r:embed="rId2"/>
          <a:stretch>
            <a:fillRect/>
          </a:stretch>
        </p:blipFill>
        <p:spPr>
          <a:xfrm>
            <a:off x="792361" y="2609850"/>
            <a:ext cx="1131927" cy="1666756"/>
          </a:xfrm>
          <a:prstGeom prst="rect">
            <a:avLst/>
          </a:prstGeom>
        </p:spPr>
      </p:pic>
      <p:sp>
        <p:nvSpPr>
          <p:cNvPr id="7" name="Text 3"/>
          <p:cNvSpPr/>
          <p:nvPr/>
        </p:nvSpPr>
        <p:spPr>
          <a:xfrm>
            <a:off x="2150626" y="2836188"/>
            <a:ext cx="3148132" cy="353735"/>
          </a:xfrm>
          <a:prstGeom prst="rect">
            <a:avLst/>
          </a:prstGeom>
          <a:noFill/>
          <a:ln/>
        </p:spPr>
        <p:txBody>
          <a:bodyPr wrap="none" lIns="0" tIns="0" rIns="0" bIns="0" rtlCol="0" anchor="t"/>
          <a:lstStyle/>
          <a:p>
            <a:pPr algn="l" indent="0" marL="0">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Dynamic AI Generation</a:t>
            </a:r>
            <a:endParaRPr lang="en-US" sz="2200" dirty="0"/>
          </a:p>
        </p:txBody>
      </p:sp>
      <p:sp>
        <p:nvSpPr>
          <p:cNvPr id="8" name="Text 4"/>
          <p:cNvSpPr/>
          <p:nvPr/>
        </p:nvSpPr>
        <p:spPr>
          <a:xfrm>
            <a:off x="2150626" y="3325654"/>
            <a:ext cx="6201013" cy="724614"/>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Gemini AI instantly generates recipes based on user requests, from simple ingredients to complex dishes.</a:t>
            </a:r>
            <a:endParaRPr lang="en-US" sz="1750" dirty="0"/>
          </a:p>
        </p:txBody>
      </p:sp>
      <p:pic>
        <p:nvPicPr>
          <p:cNvPr id="9" name="Image 2" descr="preencoded.png">    </p:cNvPr>
          <p:cNvPicPr>
            <a:picLocks noChangeAspect="1"/>
          </p:cNvPicPr>
          <p:nvPr/>
        </p:nvPicPr>
        <p:blipFill>
          <a:blip r:embed="rId3"/>
          <a:stretch>
            <a:fillRect/>
          </a:stretch>
        </p:blipFill>
        <p:spPr>
          <a:xfrm>
            <a:off x="792361" y="4276606"/>
            <a:ext cx="1131927" cy="1666756"/>
          </a:xfrm>
          <a:prstGeom prst="rect">
            <a:avLst/>
          </a:prstGeom>
        </p:spPr>
      </p:pic>
      <p:sp>
        <p:nvSpPr>
          <p:cNvPr id="10" name="Text 5"/>
          <p:cNvSpPr/>
          <p:nvPr/>
        </p:nvSpPr>
        <p:spPr>
          <a:xfrm>
            <a:off x="2150626" y="4502944"/>
            <a:ext cx="3394234" cy="353735"/>
          </a:xfrm>
          <a:prstGeom prst="rect">
            <a:avLst/>
          </a:prstGeom>
          <a:noFill/>
          <a:ln/>
        </p:spPr>
        <p:txBody>
          <a:bodyPr wrap="none" lIns="0" tIns="0" rIns="0" bIns="0" rtlCol="0" anchor="t"/>
          <a:lstStyle/>
          <a:p>
            <a:pPr algn="l" indent="0" marL="0">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Voice-Guided Interaction</a:t>
            </a:r>
            <a:endParaRPr lang="en-US" sz="2200" dirty="0"/>
          </a:p>
        </p:txBody>
      </p:sp>
      <p:sp>
        <p:nvSpPr>
          <p:cNvPr id="11" name="Text 6"/>
          <p:cNvSpPr/>
          <p:nvPr/>
        </p:nvSpPr>
        <p:spPr>
          <a:xfrm>
            <a:off x="2150626" y="4992410"/>
            <a:ext cx="6201013" cy="724614"/>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The application audibly reads out recipe steps, making it truly hands-free.</a:t>
            </a:r>
            <a:endParaRPr lang="en-US" sz="1750" dirty="0"/>
          </a:p>
        </p:txBody>
      </p:sp>
      <p:pic>
        <p:nvPicPr>
          <p:cNvPr id="12" name="Image 3" descr="preencoded.png">    </p:cNvPr>
          <p:cNvPicPr>
            <a:picLocks noChangeAspect="1"/>
          </p:cNvPicPr>
          <p:nvPr/>
        </p:nvPicPr>
        <p:blipFill>
          <a:blip r:embed="rId4"/>
          <a:stretch>
            <a:fillRect/>
          </a:stretch>
        </p:blipFill>
        <p:spPr>
          <a:xfrm>
            <a:off x="792361" y="5943362"/>
            <a:ext cx="1131927" cy="1666756"/>
          </a:xfrm>
          <a:prstGeom prst="rect">
            <a:avLst/>
          </a:prstGeom>
        </p:spPr>
      </p:pic>
      <p:sp>
        <p:nvSpPr>
          <p:cNvPr id="13" name="Text 7"/>
          <p:cNvSpPr/>
          <p:nvPr/>
        </p:nvSpPr>
        <p:spPr>
          <a:xfrm>
            <a:off x="2150626" y="6169700"/>
            <a:ext cx="3111579" cy="353735"/>
          </a:xfrm>
          <a:prstGeom prst="rect">
            <a:avLst/>
          </a:prstGeom>
          <a:noFill/>
          <a:ln/>
        </p:spPr>
        <p:txBody>
          <a:bodyPr wrap="none" lIns="0" tIns="0" rIns="0" bIns="0" rtlCol="0" anchor="t"/>
          <a:lstStyle/>
          <a:p>
            <a:pPr algn="l" indent="0" marL="0">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Listen-and-Speak Loop</a:t>
            </a:r>
            <a:endParaRPr lang="en-US" sz="2200" dirty="0"/>
          </a:p>
        </p:txBody>
      </p:sp>
      <p:sp>
        <p:nvSpPr>
          <p:cNvPr id="14" name="Text 8"/>
          <p:cNvSpPr/>
          <p:nvPr/>
        </p:nvSpPr>
        <p:spPr>
          <a:xfrm>
            <a:off x="2150626" y="6659166"/>
            <a:ext cx="6201013" cy="724614"/>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Responds to commands like "Next" or "Back", providing an interactive cooking guide.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58770"/>
          </a:xfrm>
          <a:prstGeom prst="rect">
            <a:avLst/>
          </a:prstGeom>
        </p:spPr>
      </p:pic>
      <p:sp>
        <p:nvSpPr>
          <p:cNvPr id="3" name="Shape 0"/>
          <p:cNvSpPr/>
          <p:nvPr/>
        </p:nvSpPr>
        <p:spPr>
          <a:xfrm>
            <a:off x="730329" y="573762"/>
            <a:ext cx="1887855" cy="392073"/>
          </a:xfrm>
          <a:prstGeom prst="roundRect">
            <a:avLst>
              <a:gd name="adj" fmla="val 63865"/>
            </a:avLst>
          </a:prstGeom>
          <a:solidFill>
            <a:srgbClr val="EAEDDE"/>
          </a:solidFill>
          <a:ln/>
        </p:spPr>
      </p:sp>
      <p:sp>
        <p:nvSpPr>
          <p:cNvPr id="4" name="Text 1"/>
          <p:cNvSpPr/>
          <p:nvPr/>
        </p:nvSpPr>
        <p:spPr>
          <a:xfrm>
            <a:off x="855464" y="636270"/>
            <a:ext cx="1637586" cy="267057"/>
          </a:xfrm>
          <a:prstGeom prst="rect">
            <a:avLst/>
          </a:prstGeom>
          <a:noFill/>
          <a:ln/>
        </p:spPr>
        <p:txBody>
          <a:bodyPr wrap="none" lIns="0" tIns="0" rIns="0" bIns="0" rtlCol="0" anchor="t"/>
          <a:lstStyle/>
          <a:p>
            <a:pPr algn="l" indent="0" marL="0">
              <a:lnSpc>
                <a:spcPts val="2100"/>
              </a:lnSpc>
              <a:buNone/>
            </a:pPr>
            <a:r>
              <a:rPr lang="en-US" sz="1300" dirty="0">
                <a:solidFill>
                  <a:srgbClr val="403011"/>
                </a:solidFill>
                <a:latin typeface="Brygada 1918" pitchFamily="34" charset="0"/>
                <a:ea typeface="Brygada 1918" pitchFamily="34" charset="-122"/>
                <a:cs typeface="Brygada 1918" pitchFamily="34" charset="-120"/>
              </a:rPr>
              <a:t>USER INTERACTION</a:t>
            </a:r>
            <a:endParaRPr lang="en-US" sz="1300" dirty="0"/>
          </a:p>
        </p:txBody>
      </p:sp>
      <p:sp>
        <p:nvSpPr>
          <p:cNvPr id="5" name="Text 2"/>
          <p:cNvSpPr/>
          <p:nvPr/>
        </p:nvSpPr>
        <p:spPr>
          <a:xfrm>
            <a:off x="730329" y="1049298"/>
            <a:ext cx="4173260" cy="521613"/>
          </a:xfrm>
          <a:prstGeom prst="rect">
            <a:avLst/>
          </a:prstGeom>
          <a:noFill/>
          <a:ln/>
        </p:spPr>
        <p:txBody>
          <a:bodyPr wrap="none" lIns="0" tIns="0" rIns="0" bIns="0" rtlCol="0" anchor="t"/>
          <a:lstStyle/>
          <a:p>
            <a:pPr algn="l" indent="0" marL="0">
              <a:lnSpc>
                <a:spcPts val="4100"/>
              </a:lnSpc>
              <a:buNone/>
            </a:pPr>
            <a:r>
              <a:rPr lang="en-US" sz="3250" dirty="0">
                <a:solidFill>
                  <a:srgbClr val="403011"/>
                </a:solidFill>
                <a:latin typeface="Brygada 1918 Semi Bold" pitchFamily="34" charset="0"/>
                <a:ea typeface="Brygada 1918 Semi Bold" pitchFamily="34" charset="-122"/>
                <a:cs typeface="Brygada 1918 Semi Bold" pitchFamily="34" charset="-120"/>
              </a:rPr>
              <a:t>Use Case Analysis</a:t>
            </a:r>
            <a:endParaRPr lang="en-US" sz="3250" dirty="0"/>
          </a:p>
        </p:txBody>
      </p:sp>
      <p:sp>
        <p:nvSpPr>
          <p:cNvPr id="6" name="Text 3"/>
          <p:cNvSpPr/>
          <p:nvPr/>
        </p:nvSpPr>
        <p:spPr>
          <a:xfrm>
            <a:off x="730329" y="2092404"/>
            <a:ext cx="2608302" cy="325993"/>
          </a:xfrm>
          <a:prstGeom prst="rect">
            <a:avLst/>
          </a:prstGeom>
          <a:noFill/>
          <a:ln/>
        </p:spPr>
        <p:txBody>
          <a:bodyPr wrap="none" lIns="0" tIns="0" rIns="0" bIns="0" rtlCol="0" anchor="t"/>
          <a:lstStyle/>
          <a:p>
            <a:pPr algn="l" indent="0" marL="0">
              <a:lnSpc>
                <a:spcPts val="2550"/>
              </a:lnSpc>
              <a:buNone/>
            </a:pPr>
            <a:r>
              <a:rPr lang="en-US" sz="2050" dirty="0">
                <a:solidFill>
                  <a:srgbClr val="403011"/>
                </a:solidFill>
                <a:latin typeface="Brygada 1918 Semi Bold" pitchFamily="34" charset="0"/>
                <a:ea typeface="Brygada 1918 Semi Bold" pitchFamily="34" charset="-122"/>
                <a:cs typeface="Brygada 1918 Semi Bold" pitchFamily="34" charset="-120"/>
              </a:rPr>
              <a:t>Primary Actor</a:t>
            </a:r>
            <a:endParaRPr lang="en-US" sz="2050" dirty="0"/>
          </a:p>
        </p:txBody>
      </p:sp>
      <p:sp>
        <p:nvSpPr>
          <p:cNvPr id="7" name="Text 4"/>
          <p:cNvSpPr/>
          <p:nvPr/>
        </p:nvSpPr>
        <p:spPr>
          <a:xfrm>
            <a:off x="730329" y="2626995"/>
            <a:ext cx="3587115" cy="1001554"/>
          </a:xfrm>
          <a:prstGeom prst="rect">
            <a:avLst/>
          </a:prstGeom>
          <a:noFill/>
          <a:ln/>
        </p:spPr>
        <p:txBody>
          <a:bodyPr wrap="square" lIns="0" tIns="0" rIns="0" bIns="0" rtlCol="0" anchor="t"/>
          <a:lstStyle/>
          <a:p>
            <a:pPr algn="l" indent="0" marL="0">
              <a:lnSpc>
                <a:spcPts val="2600"/>
              </a:lnSpc>
              <a:buNone/>
            </a:pPr>
            <a:r>
              <a:rPr lang="en-US" sz="1600" dirty="0">
                <a:solidFill>
                  <a:srgbClr val="403011"/>
                </a:solidFill>
                <a:latin typeface="Brygada 1918" pitchFamily="34" charset="0"/>
                <a:ea typeface="Brygada 1918" pitchFamily="34" charset="-122"/>
                <a:cs typeface="Brygada 1918" pitchFamily="34" charset="-120"/>
              </a:rPr>
              <a:t>Our primary user is any cook or chef seeking an enhanced, efficient, and hands-free cooking experience.</a:t>
            </a:r>
            <a:endParaRPr lang="en-US" sz="1600" dirty="0"/>
          </a:p>
        </p:txBody>
      </p:sp>
      <p:pic>
        <p:nvPicPr>
          <p:cNvPr id="8" name="Image 1" descr="preencoded.png">    </p:cNvPr>
          <p:cNvPicPr>
            <a:picLocks noChangeAspect="1"/>
          </p:cNvPicPr>
          <p:nvPr/>
        </p:nvPicPr>
        <p:blipFill>
          <a:blip r:embed="rId2"/>
          <a:stretch>
            <a:fillRect/>
          </a:stretch>
        </p:blipFill>
        <p:spPr>
          <a:xfrm>
            <a:off x="730329" y="3863221"/>
            <a:ext cx="3587115" cy="3587115"/>
          </a:xfrm>
          <a:prstGeom prst="rect">
            <a:avLst/>
          </a:prstGeom>
        </p:spPr>
      </p:pic>
      <p:sp>
        <p:nvSpPr>
          <p:cNvPr id="9" name="Text 5"/>
          <p:cNvSpPr/>
          <p:nvPr/>
        </p:nvSpPr>
        <p:spPr>
          <a:xfrm>
            <a:off x="4834176" y="2092404"/>
            <a:ext cx="2608302" cy="325993"/>
          </a:xfrm>
          <a:prstGeom prst="rect">
            <a:avLst/>
          </a:prstGeom>
          <a:noFill/>
          <a:ln/>
        </p:spPr>
        <p:txBody>
          <a:bodyPr wrap="none" lIns="0" tIns="0" rIns="0" bIns="0" rtlCol="0" anchor="t"/>
          <a:lstStyle/>
          <a:p>
            <a:pPr algn="l" indent="0" marL="0">
              <a:lnSpc>
                <a:spcPts val="2550"/>
              </a:lnSpc>
              <a:buNone/>
            </a:pPr>
            <a:r>
              <a:rPr lang="en-US" sz="2050" dirty="0">
                <a:solidFill>
                  <a:srgbClr val="403011"/>
                </a:solidFill>
                <a:latin typeface="Brygada 1918 Semi Bold" pitchFamily="34" charset="0"/>
                <a:ea typeface="Brygada 1918 Semi Bold" pitchFamily="34" charset="-122"/>
                <a:cs typeface="Brygada 1918 Semi Bold" pitchFamily="34" charset="-120"/>
              </a:rPr>
              <a:t>Key Functions</a:t>
            </a:r>
            <a:endParaRPr lang="en-US" sz="2050" dirty="0"/>
          </a:p>
        </p:txBody>
      </p:sp>
      <p:sp>
        <p:nvSpPr>
          <p:cNvPr id="10" name="Text 6"/>
          <p:cNvSpPr/>
          <p:nvPr/>
        </p:nvSpPr>
        <p:spPr>
          <a:xfrm>
            <a:off x="4834176" y="2626995"/>
            <a:ext cx="3587115" cy="66770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03011"/>
                </a:solidFill>
                <a:latin typeface="Brygada 1918" pitchFamily="34" charset="0"/>
                <a:ea typeface="Brygada 1918" pitchFamily="34" charset="-122"/>
                <a:cs typeface="Brygada 1918" pitchFamily="34" charset="-120"/>
              </a:rPr>
              <a:t>Recipe Search (via Voice/Text input)</a:t>
            </a:r>
            <a:endParaRPr lang="en-US" sz="1600" dirty="0"/>
          </a:p>
        </p:txBody>
      </p:sp>
      <p:sp>
        <p:nvSpPr>
          <p:cNvPr id="11" name="Text 7"/>
          <p:cNvSpPr/>
          <p:nvPr/>
        </p:nvSpPr>
        <p:spPr>
          <a:xfrm>
            <a:off x="4834176" y="3367683"/>
            <a:ext cx="3587115" cy="100155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03011"/>
                </a:solidFill>
                <a:latin typeface="Brygada 1918" pitchFamily="34" charset="0"/>
                <a:ea typeface="Brygada 1918" pitchFamily="34" charset="-122"/>
                <a:cs typeface="Brygada 1918" pitchFamily="34" charset="-120"/>
              </a:rPr>
              <a:t>Voice Mode Toggle (activate/deactivate hands-free guidance)</a:t>
            </a:r>
            <a:endParaRPr lang="en-US" sz="1600" dirty="0"/>
          </a:p>
        </p:txBody>
      </p:sp>
      <p:sp>
        <p:nvSpPr>
          <p:cNvPr id="12" name="Text 8"/>
          <p:cNvSpPr/>
          <p:nvPr/>
        </p:nvSpPr>
        <p:spPr>
          <a:xfrm>
            <a:off x="4834176" y="4442222"/>
            <a:ext cx="3587115" cy="66770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03011"/>
                </a:solidFill>
                <a:latin typeface="Brygada 1918" pitchFamily="34" charset="0"/>
                <a:ea typeface="Brygada 1918" pitchFamily="34" charset="-122"/>
                <a:cs typeface="Brygada 1918" pitchFamily="34" charset="-120"/>
              </a:rPr>
              <a:t>Navigation (step-by-step guidance through recipes)</a:t>
            </a:r>
            <a:endParaRPr lang="en-US" sz="1600" dirty="0"/>
          </a:p>
        </p:txBody>
      </p:sp>
      <p:sp>
        <p:nvSpPr>
          <p:cNvPr id="13" name="Text 9"/>
          <p:cNvSpPr/>
          <p:nvPr/>
        </p:nvSpPr>
        <p:spPr>
          <a:xfrm>
            <a:off x="4834176" y="5182910"/>
            <a:ext cx="3587115" cy="100155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03011"/>
                </a:solidFill>
                <a:latin typeface="Brygada 1918" pitchFamily="34" charset="0"/>
                <a:ea typeface="Brygada 1918" pitchFamily="34" charset="-122"/>
                <a:cs typeface="Brygada 1918" pitchFamily="34" charset="-120"/>
              </a:rPr>
              <a:t>Offline Saving (automatic extraction of recipes into .txt files)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Shape 0"/>
          <p:cNvSpPr/>
          <p:nvPr/>
        </p:nvSpPr>
        <p:spPr>
          <a:xfrm>
            <a:off x="728424" y="845225"/>
            <a:ext cx="2501503" cy="391001"/>
          </a:xfrm>
          <a:prstGeom prst="roundRect">
            <a:avLst>
              <a:gd name="adj" fmla="val 63877"/>
            </a:avLst>
          </a:prstGeom>
          <a:solidFill>
            <a:srgbClr val="EAEDDE"/>
          </a:solidFill>
          <a:ln/>
        </p:spPr>
      </p:sp>
      <p:sp>
        <p:nvSpPr>
          <p:cNvPr id="4" name="Text 1"/>
          <p:cNvSpPr/>
          <p:nvPr/>
        </p:nvSpPr>
        <p:spPr>
          <a:xfrm>
            <a:off x="853202" y="907613"/>
            <a:ext cx="2251948" cy="266224"/>
          </a:xfrm>
          <a:prstGeom prst="rect">
            <a:avLst/>
          </a:prstGeom>
          <a:noFill/>
          <a:ln/>
        </p:spPr>
        <p:txBody>
          <a:bodyPr wrap="none" lIns="0" tIns="0" rIns="0" bIns="0" rtlCol="0" anchor="t"/>
          <a:lstStyle/>
          <a:p>
            <a:pPr algn="l" indent="0" marL="0">
              <a:lnSpc>
                <a:spcPts val="2050"/>
              </a:lnSpc>
              <a:buNone/>
            </a:pPr>
            <a:r>
              <a:rPr lang="en-US" sz="1300" dirty="0">
                <a:solidFill>
                  <a:srgbClr val="403011"/>
                </a:solidFill>
                <a:latin typeface="Brygada 1918" pitchFamily="34" charset="0"/>
                <a:ea typeface="Brygada 1918" pitchFamily="34" charset="-122"/>
                <a:cs typeface="Brygada 1918" pitchFamily="34" charset="-120"/>
              </a:rPr>
              <a:t>IMPLEMENTATION DETAILS</a:t>
            </a:r>
            <a:endParaRPr lang="en-US" sz="1300" dirty="0"/>
          </a:p>
        </p:txBody>
      </p:sp>
      <p:sp>
        <p:nvSpPr>
          <p:cNvPr id="5" name="Text 2"/>
          <p:cNvSpPr/>
          <p:nvPr/>
        </p:nvSpPr>
        <p:spPr>
          <a:xfrm>
            <a:off x="728424" y="1319451"/>
            <a:ext cx="7657981" cy="520303"/>
          </a:xfrm>
          <a:prstGeom prst="rect">
            <a:avLst/>
          </a:prstGeom>
          <a:noFill/>
          <a:ln/>
        </p:spPr>
        <p:txBody>
          <a:bodyPr wrap="none" lIns="0" tIns="0" rIns="0" bIns="0" rtlCol="0" anchor="t"/>
          <a:lstStyle/>
          <a:p>
            <a:pPr algn="l" indent="0" marL="0">
              <a:lnSpc>
                <a:spcPts val="4050"/>
              </a:lnSpc>
              <a:buNone/>
            </a:pPr>
            <a:r>
              <a:rPr lang="en-US" sz="3250" dirty="0">
                <a:solidFill>
                  <a:srgbClr val="403011"/>
                </a:solidFill>
                <a:latin typeface="Brygada 1918 Semi Bold" pitchFamily="34" charset="0"/>
                <a:ea typeface="Brygada 1918 Semi Bold" pitchFamily="34" charset="-122"/>
                <a:cs typeface="Brygada 1918 Semi Bold" pitchFamily="34" charset="-120"/>
              </a:rPr>
              <a:t>Technical Implementation: Voice Mode</a:t>
            </a:r>
            <a:endParaRPr lang="en-US" sz="3250" dirty="0"/>
          </a:p>
        </p:txBody>
      </p:sp>
      <p:sp>
        <p:nvSpPr>
          <p:cNvPr id="6" name="Shape 3"/>
          <p:cNvSpPr/>
          <p:nvPr/>
        </p:nvSpPr>
        <p:spPr>
          <a:xfrm>
            <a:off x="728424" y="2464118"/>
            <a:ext cx="3739515" cy="2532817"/>
          </a:xfrm>
          <a:prstGeom prst="roundRect">
            <a:avLst>
              <a:gd name="adj" fmla="val 4332"/>
            </a:avLst>
          </a:prstGeom>
          <a:solidFill>
            <a:srgbClr val="F6EBD4"/>
          </a:solidFill>
          <a:ln/>
        </p:spPr>
      </p:sp>
      <p:sp>
        <p:nvSpPr>
          <p:cNvPr id="7" name="Shape 4"/>
          <p:cNvSpPr/>
          <p:nvPr/>
        </p:nvSpPr>
        <p:spPr>
          <a:xfrm>
            <a:off x="728424" y="2441258"/>
            <a:ext cx="3739515" cy="91440"/>
          </a:xfrm>
          <a:prstGeom prst="roundRect">
            <a:avLst>
              <a:gd name="adj" fmla="val 341428"/>
            </a:avLst>
          </a:prstGeom>
          <a:solidFill>
            <a:srgbClr val="626C3B"/>
          </a:solidFill>
          <a:ln/>
        </p:spPr>
      </p:sp>
      <p:sp>
        <p:nvSpPr>
          <p:cNvPr id="8" name="Shape 5"/>
          <p:cNvSpPr/>
          <p:nvPr/>
        </p:nvSpPr>
        <p:spPr>
          <a:xfrm>
            <a:off x="2286000" y="2151936"/>
            <a:ext cx="624364" cy="624364"/>
          </a:xfrm>
          <a:prstGeom prst="roundRect">
            <a:avLst>
              <a:gd name="adj" fmla="val 146453"/>
            </a:avLst>
          </a:prstGeom>
          <a:solidFill>
            <a:srgbClr val="626C3B"/>
          </a:solidFill>
          <a:ln/>
        </p:spPr>
      </p:sp>
      <p:sp>
        <p:nvSpPr>
          <p:cNvPr id="9" name="Text 6"/>
          <p:cNvSpPr/>
          <p:nvPr/>
        </p:nvSpPr>
        <p:spPr>
          <a:xfrm>
            <a:off x="2473285" y="2308027"/>
            <a:ext cx="249674" cy="312182"/>
          </a:xfrm>
          <a:prstGeom prst="rect">
            <a:avLst/>
          </a:prstGeom>
          <a:noFill/>
          <a:ln/>
        </p:spPr>
        <p:txBody>
          <a:bodyPr wrap="none" lIns="0" tIns="0" rIns="0" bIns="0" rtlCol="0" anchor="t"/>
          <a:lstStyle/>
          <a:p>
            <a:pPr algn="l" indent="0" marL="0">
              <a:lnSpc>
                <a:spcPts val="3100"/>
              </a:lnSpc>
              <a:buNone/>
            </a:pPr>
            <a:r>
              <a:rPr lang="en-US" sz="1950" dirty="0">
                <a:solidFill>
                  <a:srgbClr val="FFFFFF"/>
                </a:solidFill>
                <a:latin typeface="Brygada 1918 Semi Bold" pitchFamily="34" charset="0"/>
                <a:ea typeface="Brygada 1918 Semi Bold" pitchFamily="34" charset="-122"/>
                <a:cs typeface="Brygada 1918 Semi Bold" pitchFamily="34" charset="-120"/>
              </a:rPr>
              <a:t>1</a:t>
            </a:r>
            <a:endParaRPr lang="en-US" sz="1950" dirty="0"/>
          </a:p>
        </p:txBody>
      </p:sp>
      <p:sp>
        <p:nvSpPr>
          <p:cNvPr id="10" name="Text 7"/>
          <p:cNvSpPr/>
          <p:nvPr/>
        </p:nvSpPr>
        <p:spPr>
          <a:xfrm>
            <a:off x="959406" y="2984421"/>
            <a:ext cx="2601635" cy="325160"/>
          </a:xfrm>
          <a:prstGeom prst="rect">
            <a:avLst/>
          </a:prstGeom>
          <a:noFill/>
          <a:ln/>
        </p:spPr>
        <p:txBody>
          <a:bodyPr wrap="none" lIns="0" tIns="0" rIns="0" bIns="0" rtlCol="0" anchor="t"/>
          <a:lstStyle/>
          <a:p>
            <a:pPr algn="l" indent="0" marL="0">
              <a:lnSpc>
                <a:spcPts val="2550"/>
              </a:lnSpc>
              <a:buNone/>
            </a:pPr>
            <a:r>
              <a:rPr lang="en-US" sz="2000" dirty="0">
                <a:solidFill>
                  <a:srgbClr val="403011"/>
                </a:solidFill>
                <a:latin typeface="Brygada 1918 Semi Bold" pitchFamily="34" charset="0"/>
                <a:ea typeface="Brygada 1918 Semi Bold" pitchFamily="34" charset="-122"/>
                <a:cs typeface="Brygada 1918 Semi Bold" pitchFamily="34" charset="-120"/>
              </a:rPr>
              <a:t>Speech-to-Text (STT)</a:t>
            </a:r>
            <a:endParaRPr lang="en-US" sz="2000" dirty="0"/>
          </a:p>
        </p:txBody>
      </p:sp>
      <p:sp>
        <p:nvSpPr>
          <p:cNvPr id="11" name="Text 8"/>
          <p:cNvSpPr/>
          <p:nvPr/>
        </p:nvSpPr>
        <p:spPr>
          <a:xfrm>
            <a:off x="959406" y="3434358"/>
            <a:ext cx="3277553" cy="1013936"/>
          </a:xfrm>
          <a:prstGeom prst="rect">
            <a:avLst/>
          </a:prstGeom>
          <a:noFill/>
          <a:ln/>
        </p:spPr>
        <p:txBody>
          <a:bodyPr wrap="square" lIns="0" tIns="0" rIns="0" bIns="0" rtlCol="0" anchor="t"/>
          <a:lstStyle/>
          <a:p>
            <a:pPr algn="l" indent="0" marL="0">
              <a:lnSpc>
                <a:spcPts val="2600"/>
              </a:lnSpc>
              <a:buNone/>
            </a:pPr>
            <a:r>
              <a:rPr lang="en-US" sz="1600" dirty="0">
                <a:solidFill>
                  <a:srgbClr val="403011"/>
                </a:solidFill>
                <a:latin typeface="Brygada 1918" pitchFamily="34" charset="0"/>
                <a:ea typeface="Brygada 1918" pitchFamily="34" charset="-122"/>
                <a:cs typeface="Brygada 1918" pitchFamily="34" charset="-120"/>
              </a:rPr>
              <a:t>Utilises Android's built-in </a:t>
            </a:r>
            <a:pPr algn="l" indent="0" marL="0">
              <a:lnSpc>
                <a:spcPts val="2600"/>
              </a:lnSpc>
              <a:buNone/>
            </a:pPr>
            <a:r>
              <a:rPr lang="en-US" sz="1600" dirty="0">
                <a:solidFill>
                  <a:srgbClr val="403011"/>
                </a:solidFill>
                <a:highlight>
                  <a:srgbClr val="E9DEC7"/>
                </a:highlight>
                <a:latin typeface="Consolas" pitchFamily="34" charset="0"/>
                <a:ea typeface="Consolas" pitchFamily="34" charset="-122"/>
                <a:cs typeface="Consolas" pitchFamily="34" charset="-120"/>
              </a:rPr>
              <a:t>SpeechRecognizer</a:t>
            </a:r>
            <a:pPr algn="l" indent="0" marL="0">
              <a:lnSpc>
                <a:spcPts val="2600"/>
              </a:lnSpc>
              <a:buNone/>
            </a:pPr>
            <a:r>
              <a:rPr lang="en-US" sz="1600" dirty="0">
                <a:solidFill>
                  <a:srgbClr val="403011"/>
                </a:solidFill>
                <a:latin typeface="Brygada 1918" pitchFamily="34" charset="0"/>
                <a:ea typeface="Brygada 1918" pitchFamily="34" charset="-122"/>
                <a:cs typeface="Brygada 1918" pitchFamily="34" charset="-120"/>
              </a:rPr>
              <a:t> to accurately interpret user voice commands.</a:t>
            </a:r>
            <a:endParaRPr lang="en-US" sz="1600" dirty="0"/>
          </a:p>
        </p:txBody>
      </p:sp>
      <p:sp>
        <p:nvSpPr>
          <p:cNvPr id="12" name="Shape 9"/>
          <p:cNvSpPr/>
          <p:nvPr/>
        </p:nvSpPr>
        <p:spPr>
          <a:xfrm>
            <a:off x="4676061" y="2464118"/>
            <a:ext cx="3739515" cy="2532817"/>
          </a:xfrm>
          <a:prstGeom prst="roundRect">
            <a:avLst>
              <a:gd name="adj" fmla="val 4332"/>
            </a:avLst>
          </a:prstGeom>
          <a:solidFill>
            <a:srgbClr val="F6EBD4"/>
          </a:solidFill>
          <a:ln/>
        </p:spPr>
      </p:sp>
      <p:sp>
        <p:nvSpPr>
          <p:cNvPr id="13" name="Shape 10"/>
          <p:cNvSpPr/>
          <p:nvPr/>
        </p:nvSpPr>
        <p:spPr>
          <a:xfrm>
            <a:off x="4676061" y="2441258"/>
            <a:ext cx="3739515" cy="91440"/>
          </a:xfrm>
          <a:prstGeom prst="roundRect">
            <a:avLst>
              <a:gd name="adj" fmla="val 341428"/>
            </a:avLst>
          </a:prstGeom>
          <a:solidFill>
            <a:srgbClr val="83792E"/>
          </a:solidFill>
          <a:ln/>
        </p:spPr>
      </p:sp>
      <p:sp>
        <p:nvSpPr>
          <p:cNvPr id="14" name="Shape 11"/>
          <p:cNvSpPr/>
          <p:nvPr/>
        </p:nvSpPr>
        <p:spPr>
          <a:xfrm>
            <a:off x="6233636" y="2151936"/>
            <a:ext cx="624364" cy="624364"/>
          </a:xfrm>
          <a:prstGeom prst="roundRect">
            <a:avLst>
              <a:gd name="adj" fmla="val 146453"/>
            </a:avLst>
          </a:prstGeom>
          <a:solidFill>
            <a:srgbClr val="83792E"/>
          </a:solidFill>
          <a:ln/>
        </p:spPr>
      </p:sp>
      <p:sp>
        <p:nvSpPr>
          <p:cNvPr id="15" name="Text 12"/>
          <p:cNvSpPr/>
          <p:nvPr/>
        </p:nvSpPr>
        <p:spPr>
          <a:xfrm>
            <a:off x="6420922" y="2308027"/>
            <a:ext cx="249674" cy="312182"/>
          </a:xfrm>
          <a:prstGeom prst="rect">
            <a:avLst/>
          </a:prstGeom>
          <a:noFill/>
          <a:ln/>
        </p:spPr>
        <p:txBody>
          <a:bodyPr wrap="none" lIns="0" tIns="0" rIns="0" bIns="0" rtlCol="0" anchor="t"/>
          <a:lstStyle/>
          <a:p>
            <a:pPr algn="l" indent="0" marL="0">
              <a:lnSpc>
                <a:spcPts val="3100"/>
              </a:lnSpc>
              <a:buNone/>
            </a:pPr>
            <a:r>
              <a:rPr lang="en-US" sz="1950" dirty="0">
                <a:solidFill>
                  <a:srgbClr val="FFFFFF"/>
                </a:solidFill>
                <a:latin typeface="Brygada 1918 Semi Bold" pitchFamily="34" charset="0"/>
                <a:ea typeface="Brygada 1918 Semi Bold" pitchFamily="34" charset="-122"/>
                <a:cs typeface="Brygada 1918 Semi Bold" pitchFamily="34" charset="-120"/>
              </a:rPr>
              <a:t>2</a:t>
            </a:r>
            <a:endParaRPr lang="en-US" sz="1950" dirty="0"/>
          </a:p>
        </p:txBody>
      </p:sp>
      <p:sp>
        <p:nvSpPr>
          <p:cNvPr id="16" name="Text 13"/>
          <p:cNvSpPr/>
          <p:nvPr/>
        </p:nvSpPr>
        <p:spPr>
          <a:xfrm>
            <a:off x="4907042" y="2984421"/>
            <a:ext cx="2601635" cy="325160"/>
          </a:xfrm>
          <a:prstGeom prst="rect">
            <a:avLst/>
          </a:prstGeom>
          <a:noFill/>
          <a:ln/>
        </p:spPr>
        <p:txBody>
          <a:bodyPr wrap="none" lIns="0" tIns="0" rIns="0" bIns="0" rtlCol="0" anchor="t"/>
          <a:lstStyle/>
          <a:p>
            <a:pPr algn="l" indent="0" marL="0">
              <a:lnSpc>
                <a:spcPts val="2550"/>
              </a:lnSpc>
              <a:buNone/>
            </a:pPr>
            <a:r>
              <a:rPr lang="en-US" sz="2000" dirty="0">
                <a:solidFill>
                  <a:srgbClr val="403011"/>
                </a:solidFill>
                <a:latin typeface="Brygada 1918 Semi Bold" pitchFamily="34" charset="0"/>
                <a:ea typeface="Brygada 1918 Semi Bold" pitchFamily="34" charset="-122"/>
                <a:cs typeface="Brygada 1918 Semi Bold" pitchFamily="34" charset="-120"/>
              </a:rPr>
              <a:t>Text-to-Speech (TTS)</a:t>
            </a:r>
            <a:endParaRPr lang="en-US" sz="2000" dirty="0"/>
          </a:p>
        </p:txBody>
      </p:sp>
      <p:sp>
        <p:nvSpPr>
          <p:cNvPr id="17" name="Text 14"/>
          <p:cNvSpPr/>
          <p:nvPr/>
        </p:nvSpPr>
        <p:spPr>
          <a:xfrm>
            <a:off x="4907042" y="3434358"/>
            <a:ext cx="3277553" cy="1331595"/>
          </a:xfrm>
          <a:prstGeom prst="rect">
            <a:avLst/>
          </a:prstGeom>
          <a:noFill/>
          <a:ln/>
        </p:spPr>
        <p:txBody>
          <a:bodyPr wrap="square" lIns="0" tIns="0" rIns="0" bIns="0" rtlCol="0" anchor="t"/>
          <a:lstStyle/>
          <a:p>
            <a:pPr algn="l" indent="0" marL="0">
              <a:lnSpc>
                <a:spcPts val="2600"/>
              </a:lnSpc>
              <a:buNone/>
            </a:pPr>
            <a:r>
              <a:rPr lang="en-US" sz="1600" dirty="0">
                <a:solidFill>
                  <a:srgbClr val="403011"/>
                </a:solidFill>
                <a:latin typeface="Brygada 1918" pitchFamily="34" charset="0"/>
                <a:ea typeface="Brygada 1918" pitchFamily="34" charset="-122"/>
                <a:cs typeface="Brygada 1918" pitchFamily="34" charset="-120"/>
              </a:rPr>
              <a:t>Enables the application to read recipe instructions aloud, ensuring a truly hands-free experience.</a:t>
            </a:r>
            <a:endParaRPr lang="en-US" sz="1600" dirty="0"/>
          </a:p>
        </p:txBody>
      </p:sp>
      <p:sp>
        <p:nvSpPr>
          <p:cNvPr id="18" name="Shape 15"/>
          <p:cNvSpPr/>
          <p:nvPr/>
        </p:nvSpPr>
        <p:spPr>
          <a:xfrm>
            <a:off x="728424" y="5517237"/>
            <a:ext cx="7687151" cy="1867019"/>
          </a:xfrm>
          <a:prstGeom prst="roundRect">
            <a:avLst>
              <a:gd name="adj" fmla="val 5877"/>
            </a:avLst>
          </a:prstGeom>
          <a:solidFill>
            <a:srgbClr val="F6EBD4"/>
          </a:solidFill>
          <a:ln/>
        </p:spPr>
      </p:sp>
      <p:sp>
        <p:nvSpPr>
          <p:cNvPr id="19" name="Shape 16"/>
          <p:cNvSpPr/>
          <p:nvPr/>
        </p:nvSpPr>
        <p:spPr>
          <a:xfrm>
            <a:off x="728424" y="5494377"/>
            <a:ext cx="7687151" cy="91440"/>
          </a:xfrm>
          <a:prstGeom prst="roundRect">
            <a:avLst>
              <a:gd name="adj" fmla="val 341428"/>
            </a:avLst>
          </a:prstGeom>
          <a:solidFill>
            <a:srgbClr val="E8AF3B"/>
          </a:solidFill>
          <a:ln/>
        </p:spPr>
      </p:sp>
      <p:sp>
        <p:nvSpPr>
          <p:cNvPr id="20" name="Shape 17"/>
          <p:cNvSpPr/>
          <p:nvPr/>
        </p:nvSpPr>
        <p:spPr>
          <a:xfrm>
            <a:off x="4259818" y="5205055"/>
            <a:ext cx="624364" cy="624364"/>
          </a:xfrm>
          <a:prstGeom prst="roundRect">
            <a:avLst>
              <a:gd name="adj" fmla="val 146453"/>
            </a:avLst>
          </a:prstGeom>
          <a:solidFill>
            <a:srgbClr val="E8AF3B"/>
          </a:solidFill>
          <a:ln/>
        </p:spPr>
      </p:sp>
      <p:sp>
        <p:nvSpPr>
          <p:cNvPr id="21" name="Text 18"/>
          <p:cNvSpPr/>
          <p:nvPr/>
        </p:nvSpPr>
        <p:spPr>
          <a:xfrm>
            <a:off x="4447103" y="5361146"/>
            <a:ext cx="249674" cy="312182"/>
          </a:xfrm>
          <a:prstGeom prst="rect">
            <a:avLst/>
          </a:prstGeom>
          <a:noFill/>
          <a:ln/>
        </p:spPr>
        <p:txBody>
          <a:bodyPr wrap="none" lIns="0" tIns="0" rIns="0" bIns="0" rtlCol="0" anchor="t"/>
          <a:lstStyle/>
          <a:p>
            <a:pPr algn="l" indent="0" marL="0">
              <a:lnSpc>
                <a:spcPts val="3100"/>
              </a:lnSpc>
              <a:buNone/>
            </a:pPr>
            <a:r>
              <a:rPr lang="en-US" sz="1950" dirty="0">
                <a:solidFill>
                  <a:srgbClr val="000000"/>
                </a:solidFill>
                <a:latin typeface="Brygada 1918 Semi Bold" pitchFamily="34" charset="0"/>
                <a:ea typeface="Brygada 1918 Semi Bold" pitchFamily="34" charset="-122"/>
                <a:cs typeface="Brygada 1918 Semi Bold" pitchFamily="34" charset="-120"/>
              </a:rPr>
              <a:t>3</a:t>
            </a:r>
            <a:endParaRPr lang="en-US" sz="1950" dirty="0"/>
          </a:p>
        </p:txBody>
      </p:sp>
      <p:sp>
        <p:nvSpPr>
          <p:cNvPr id="22" name="Text 19"/>
          <p:cNvSpPr/>
          <p:nvPr/>
        </p:nvSpPr>
        <p:spPr>
          <a:xfrm>
            <a:off x="959406" y="6037540"/>
            <a:ext cx="2820591" cy="325160"/>
          </a:xfrm>
          <a:prstGeom prst="rect">
            <a:avLst/>
          </a:prstGeom>
          <a:noFill/>
          <a:ln/>
        </p:spPr>
        <p:txBody>
          <a:bodyPr wrap="none" lIns="0" tIns="0" rIns="0" bIns="0" rtlCol="0" anchor="t"/>
          <a:lstStyle/>
          <a:p>
            <a:pPr algn="l" indent="0" marL="0">
              <a:lnSpc>
                <a:spcPts val="2550"/>
              </a:lnSpc>
              <a:buNone/>
            </a:pPr>
            <a:r>
              <a:rPr lang="en-US" sz="2000" dirty="0">
                <a:solidFill>
                  <a:srgbClr val="403011"/>
                </a:solidFill>
                <a:latin typeface="Brygada 1918 Semi Bold" pitchFamily="34" charset="0"/>
                <a:ea typeface="Brygada 1918 Semi Bold" pitchFamily="34" charset="-122"/>
                <a:cs typeface="Brygada 1918 Semi Bold" pitchFamily="34" charset="-120"/>
              </a:rPr>
              <a:t>Continuous Logic Loop</a:t>
            </a:r>
            <a:endParaRPr lang="en-US" sz="2000" dirty="0"/>
          </a:p>
        </p:txBody>
      </p:sp>
      <p:sp>
        <p:nvSpPr>
          <p:cNvPr id="23" name="Text 20"/>
          <p:cNvSpPr/>
          <p:nvPr/>
        </p:nvSpPr>
        <p:spPr>
          <a:xfrm>
            <a:off x="959406" y="6487478"/>
            <a:ext cx="7225189" cy="665798"/>
          </a:xfrm>
          <a:prstGeom prst="rect">
            <a:avLst/>
          </a:prstGeom>
          <a:noFill/>
          <a:ln/>
        </p:spPr>
        <p:txBody>
          <a:bodyPr wrap="square" lIns="0" tIns="0" rIns="0" bIns="0" rtlCol="0" anchor="t"/>
          <a:lstStyle/>
          <a:p>
            <a:pPr algn="l" indent="0" marL="0">
              <a:lnSpc>
                <a:spcPts val="2600"/>
              </a:lnSpc>
              <a:buNone/>
            </a:pPr>
            <a:r>
              <a:rPr lang="en-US" sz="1600" dirty="0">
                <a:solidFill>
                  <a:srgbClr val="403011"/>
                </a:solidFill>
                <a:latin typeface="Brygada 1918" pitchFamily="34" charset="0"/>
                <a:ea typeface="Brygada 1918" pitchFamily="34" charset="-122"/>
                <a:cs typeface="Brygada 1918" pitchFamily="34" charset="-120"/>
              </a:rPr>
              <a:t>A continuous listening and speaking loop eliminates the need for repeated button presses during cooking.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32577"/>
          </a:xfrm>
          <a:prstGeom prst="rect">
            <a:avLst/>
          </a:prstGeom>
        </p:spPr>
      </p:pic>
      <p:sp>
        <p:nvSpPr>
          <p:cNvPr id="3" name="Shape 0"/>
          <p:cNvSpPr/>
          <p:nvPr/>
        </p:nvSpPr>
        <p:spPr>
          <a:xfrm>
            <a:off x="782955" y="615196"/>
            <a:ext cx="1768316" cy="420291"/>
          </a:xfrm>
          <a:prstGeom prst="roundRect">
            <a:avLst>
              <a:gd name="adj" fmla="val 63876"/>
            </a:avLst>
          </a:prstGeom>
          <a:solidFill>
            <a:srgbClr val="EAEDDE"/>
          </a:solidFill>
          <a:ln/>
        </p:spPr>
      </p:sp>
      <p:sp>
        <p:nvSpPr>
          <p:cNvPr id="4" name="Text 1"/>
          <p:cNvSpPr/>
          <p:nvPr/>
        </p:nvSpPr>
        <p:spPr>
          <a:xfrm>
            <a:off x="917138" y="682228"/>
            <a:ext cx="1499949" cy="286226"/>
          </a:xfrm>
          <a:prstGeom prst="rect">
            <a:avLst/>
          </a:prstGeom>
          <a:noFill/>
          <a:ln/>
        </p:spPr>
        <p:txBody>
          <a:bodyPr wrap="none" lIns="0" tIns="0" rIns="0" bIns="0" rtlCol="0" anchor="t"/>
          <a:lstStyle/>
          <a:p>
            <a:pPr algn="l" indent="0" marL="0">
              <a:lnSpc>
                <a:spcPts val="2250"/>
              </a:lnSpc>
              <a:buNone/>
            </a:pPr>
            <a:r>
              <a:rPr lang="en-US" sz="1400" dirty="0">
                <a:solidFill>
                  <a:srgbClr val="403011"/>
                </a:solidFill>
                <a:latin typeface="Brygada 1918" pitchFamily="34" charset="0"/>
                <a:ea typeface="Brygada 1918" pitchFamily="34" charset="-122"/>
                <a:cs typeface="Brygada 1918" pitchFamily="34" charset="-120"/>
              </a:rPr>
              <a:t>CODE DEEP DIVE</a:t>
            </a:r>
            <a:endParaRPr lang="en-US" sz="1400" dirty="0"/>
          </a:p>
        </p:txBody>
      </p:sp>
      <p:sp>
        <p:nvSpPr>
          <p:cNvPr id="5" name="Text 2"/>
          <p:cNvSpPr/>
          <p:nvPr/>
        </p:nvSpPr>
        <p:spPr>
          <a:xfrm>
            <a:off x="782955" y="1124903"/>
            <a:ext cx="6234351" cy="559237"/>
          </a:xfrm>
          <a:prstGeom prst="rect">
            <a:avLst/>
          </a:prstGeom>
          <a:noFill/>
          <a:ln/>
        </p:spPr>
        <p:txBody>
          <a:bodyPr wrap="none" lIns="0" tIns="0" rIns="0" bIns="0" rtlCol="0" anchor="t"/>
          <a:lstStyle/>
          <a:p>
            <a:pPr algn="l" indent="0" marL="0">
              <a:lnSpc>
                <a:spcPts val="4400"/>
              </a:lnSpc>
              <a:buNone/>
            </a:pPr>
            <a:r>
              <a:rPr lang="en-US" sz="3500" dirty="0">
                <a:solidFill>
                  <a:srgbClr val="403011"/>
                </a:solidFill>
                <a:latin typeface="Brygada 1918 Semi Bold" pitchFamily="34" charset="0"/>
                <a:ea typeface="Brygada 1918 Semi Bold" pitchFamily="34" charset="-122"/>
                <a:cs typeface="Brygada 1918 Semi Bold" pitchFamily="34" charset="-120"/>
              </a:rPr>
              <a:t>Core Code Logic: Voice Toggle</a:t>
            </a:r>
            <a:endParaRPr lang="en-US" sz="3500" dirty="0"/>
          </a:p>
        </p:txBody>
      </p:sp>
      <p:sp>
        <p:nvSpPr>
          <p:cNvPr id="6" name="Shape 3"/>
          <p:cNvSpPr/>
          <p:nvPr/>
        </p:nvSpPr>
        <p:spPr>
          <a:xfrm>
            <a:off x="782955" y="2019657"/>
            <a:ext cx="7578090" cy="3556635"/>
          </a:xfrm>
          <a:prstGeom prst="roundRect">
            <a:avLst>
              <a:gd name="adj" fmla="val 9435"/>
            </a:avLst>
          </a:prstGeom>
          <a:solidFill>
            <a:srgbClr val="E9DEC7"/>
          </a:solidFill>
          <a:ln/>
        </p:spPr>
      </p:sp>
      <p:sp>
        <p:nvSpPr>
          <p:cNvPr id="7" name="Shape 4"/>
          <p:cNvSpPr/>
          <p:nvPr/>
        </p:nvSpPr>
        <p:spPr>
          <a:xfrm>
            <a:off x="771882" y="2019657"/>
            <a:ext cx="7600236" cy="3556635"/>
          </a:xfrm>
          <a:prstGeom prst="roundRect">
            <a:avLst>
              <a:gd name="adj" fmla="val 944"/>
            </a:avLst>
          </a:prstGeom>
          <a:solidFill>
            <a:srgbClr val="E9DEC7"/>
          </a:solidFill>
          <a:ln/>
        </p:spPr>
      </p:sp>
      <p:sp>
        <p:nvSpPr>
          <p:cNvPr id="8" name="Text 5"/>
          <p:cNvSpPr/>
          <p:nvPr/>
        </p:nvSpPr>
        <p:spPr>
          <a:xfrm>
            <a:off x="995601" y="2187416"/>
            <a:ext cx="7152799" cy="3221117"/>
          </a:xfrm>
          <a:prstGeom prst="rect">
            <a:avLst/>
          </a:prstGeom>
          <a:noFill/>
          <a:ln/>
        </p:spPr>
        <p:txBody>
          <a:bodyPr wrap="square" lIns="0" tIns="0" rIns="0" bIns="0" rtlCol="0" anchor="t"/>
          <a:lstStyle/>
          <a:p>
            <a:pPr algn="l" indent="0" marL="0">
              <a:lnSpc>
                <a:spcPts val="2800"/>
              </a:lnSpc>
              <a:buNone/>
            </a:pPr>
            <a:r>
              <a:rPr lang="en-US" sz="1750" dirty="0">
                <a:solidFill>
                  <a:srgbClr val="403011"/>
                </a:solidFill>
                <a:highlight>
                  <a:srgbClr val="E9DEC7"/>
                </a:highlight>
                <a:latin typeface="Consolas" pitchFamily="34" charset="0"/>
                <a:ea typeface="Consolas" pitchFamily="34" charset="-122"/>
                <a:cs typeface="Consolas" pitchFamily="34" charset="-120"/>
              </a:rPr>
              <a:t>// Logic to manage hands-free mode
if (!isVoiceMode) {
    isVoiceMode = true;
    speakCurrentStep(); // App speaks
} else {
    isVoiceMode = false;
    tts.stop(); // App stops speaking
}
</a:t>
            </a:r>
            <a:endParaRPr lang="en-US" sz="1750" dirty="0"/>
          </a:p>
        </p:txBody>
      </p:sp>
      <p:sp>
        <p:nvSpPr>
          <p:cNvPr id="9" name="Text 6"/>
          <p:cNvSpPr/>
          <p:nvPr/>
        </p:nvSpPr>
        <p:spPr>
          <a:xfrm>
            <a:off x="782955" y="5827871"/>
            <a:ext cx="7578090" cy="1789509"/>
          </a:xfrm>
          <a:prstGeom prst="rect">
            <a:avLst/>
          </a:prstGeom>
          <a:noFill/>
          <a:ln/>
        </p:spPr>
        <p:txBody>
          <a:bodyPr wrap="square" lIns="0" tIns="0" rIns="0" bIns="0" rtlCol="0" anchor="t"/>
          <a:lstStyle/>
          <a:p>
            <a:pPr algn="l" indent="0" marL="0">
              <a:lnSpc>
                <a:spcPts val="2800"/>
              </a:lnSpc>
              <a:buNone/>
            </a:pPr>
            <a:r>
              <a:rPr lang="en-US" sz="1750" dirty="0">
                <a:solidFill>
                  <a:srgbClr val="403011"/>
                </a:solidFill>
                <a:latin typeface="Brygada 1918" pitchFamily="34" charset="0"/>
                <a:ea typeface="Brygada 1918" pitchFamily="34" charset="-122"/>
                <a:cs typeface="Brygada 1918" pitchFamily="34" charset="-120"/>
              </a:rPr>
              <a:t>This critical code snippet governs the activation and deactivation of the voice command system. It ensures that the application responds appropriately to user input, providing a seamless transition between voice-guided and manual modes, maintaining user control throughout the cooking process.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80190" y="1233726"/>
            <a:ext cx="1427917" cy="426244"/>
          </a:xfrm>
          <a:prstGeom prst="roundRect">
            <a:avLst>
              <a:gd name="adj" fmla="val 63859"/>
            </a:avLst>
          </a:prstGeom>
          <a:solidFill>
            <a:srgbClr val="EAEDDE"/>
          </a:solidFill>
          <a:ln/>
        </p:spPr>
      </p:sp>
      <p:sp>
        <p:nvSpPr>
          <p:cNvPr id="4" name="Text 1"/>
          <p:cNvSpPr/>
          <p:nvPr/>
        </p:nvSpPr>
        <p:spPr>
          <a:xfrm>
            <a:off x="6416278" y="1301710"/>
            <a:ext cx="1155740" cy="290274"/>
          </a:xfrm>
          <a:prstGeom prst="rect">
            <a:avLst/>
          </a:prstGeom>
          <a:noFill/>
          <a:ln/>
        </p:spPr>
        <p:txBody>
          <a:bodyPr wrap="none" lIns="0" tIns="0" rIns="0" bIns="0" rtlCol="0" anchor="t"/>
          <a:lstStyle/>
          <a:p>
            <a:pPr algn="l" indent="0" marL="0">
              <a:lnSpc>
                <a:spcPts val="2250"/>
              </a:lnSpc>
              <a:buNone/>
            </a:pPr>
            <a:r>
              <a:rPr lang="en-US" sz="1400" dirty="0">
                <a:solidFill>
                  <a:srgbClr val="403011"/>
                </a:solidFill>
                <a:latin typeface="Brygada 1918" pitchFamily="34" charset="0"/>
                <a:ea typeface="Brygada 1918" pitchFamily="34" charset="-122"/>
                <a:cs typeface="Brygada 1918" pitchFamily="34" charset="-120"/>
              </a:rPr>
              <a:t>RELIABILITY</a:t>
            </a:r>
            <a:endParaRPr lang="en-US" sz="1400" dirty="0"/>
          </a:p>
        </p:txBody>
      </p:sp>
      <p:sp>
        <p:nvSpPr>
          <p:cNvPr id="5" name="Text 2"/>
          <p:cNvSpPr/>
          <p:nvPr/>
        </p:nvSpPr>
        <p:spPr>
          <a:xfrm>
            <a:off x="6280190" y="1750695"/>
            <a:ext cx="7137797" cy="566976"/>
          </a:xfrm>
          <a:prstGeom prst="rect">
            <a:avLst/>
          </a:prstGeom>
          <a:noFill/>
          <a:ln/>
        </p:spPr>
        <p:txBody>
          <a:bodyPr wrap="none" lIns="0" tIns="0" rIns="0" bIns="0" rtlCol="0" anchor="t"/>
          <a:lstStyle/>
          <a:p>
            <a:pPr algn="l" indent="0" marL="0">
              <a:lnSpc>
                <a:spcPts val="4450"/>
              </a:lnSpc>
              <a:buNone/>
            </a:pPr>
            <a:r>
              <a:rPr lang="en-US" sz="3550" dirty="0">
                <a:solidFill>
                  <a:srgbClr val="403011"/>
                </a:solidFill>
                <a:latin typeface="Brygada 1918 Semi Bold" pitchFamily="34" charset="0"/>
                <a:ea typeface="Brygada 1918 Semi Bold" pitchFamily="34" charset="-122"/>
                <a:cs typeface="Brygada 1918 Semi Bold" pitchFamily="34" charset="-120"/>
              </a:rPr>
              <a:t>Offline Access &amp; Data Persistence</a:t>
            </a:r>
            <a:endParaRPr lang="en-US" sz="3550" dirty="0"/>
          </a:p>
        </p:txBody>
      </p:sp>
      <p:sp>
        <p:nvSpPr>
          <p:cNvPr id="6" name="Shape 3"/>
          <p:cNvSpPr/>
          <p:nvPr/>
        </p:nvSpPr>
        <p:spPr>
          <a:xfrm>
            <a:off x="6280190" y="2657832"/>
            <a:ext cx="3664744" cy="2426137"/>
          </a:xfrm>
          <a:prstGeom prst="roundRect">
            <a:avLst>
              <a:gd name="adj" fmla="val 22438"/>
            </a:avLst>
          </a:prstGeom>
          <a:solidFill>
            <a:srgbClr val="626C3B"/>
          </a:solidFill>
          <a:ln w="7620">
            <a:solidFill>
              <a:srgbClr val="7B8554"/>
            </a:solidFill>
            <a:prstDash val="solid"/>
          </a:ln>
        </p:spPr>
      </p:sp>
      <p:sp>
        <p:nvSpPr>
          <p:cNvPr id="7" name="Text 4"/>
          <p:cNvSpPr/>
          <p:nvPr/>
        </p:nvSpPr>
        <p:spPr>
          <a:xfrm>
            <a:off x="6514624" y="289226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Automatic Saving</a:t>
            </a:r>
            <a:endParaRPr lang="en-US" sz="2200" dirty="0"/>
          </a:p>
        </p:txBody>
      </p:sp>
      <p:sp>
        <p:nvSpPr>
          <p:cNvPr id="8" name="Text 5"/>
          <p:cNvSpPr/>
          <p:nvPr/>
        </p:nvSpPr>
        <p:spPr>
          <a:xfrm>
            <a:off x="6514624" y="3382685"/>
            <a:ext cx="3195876" cy="1466850"/>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AI responses are parsed to extract dish names and automatically saved as </a:t>
            </a:r>
            <a:pPr algn="l" indent="0" marL="0">
              <a:lnSpc>
                <a:spcPts val="2850"/>
              </a:lnSpc>
              <a:buNone/>
            </a:pPr>
            <a:r>
              <a:rPr lang="en-US" sz="1750" dirty="0">
                <a:solidFill>
                  <a:srgbClr val="FFFFFF"/>
                </a:solidFill>
                <a:highlight>
                  <a:srgbClr val="E9DEC7"/>
                </a:highlight>
                <a:latin typeface="Consolas" pitchFamily="34" charset="0"/>
                <a:ea typeface="Consolas" pitchFamily="34" charset="-122"/>
                <a:cs typeface="Consolas" pitchFamily="34" charset="-120"/>
              </a:rPr>
              <a:t>.txt</a:t>
            </a:r>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 files.</a:t>
            </a:r>
            <a:endParaRPr lang="en-US" sz="1750" dirty="0"/>
          </a:p>
        </p:txBody>
      </p:sp>
      <p:sp>
        <p:nvSpPr>
          <p:cNvPr id="9" name="Shape 6"/>
          <p:cNvSpPr/>
          <p:nvPr/>
        </p:nvSpPr>
        <p:spPr>
          <a:xfrm>
            <a:off x="10171748" y="2657832"/>
            <a:ext cx="3664863" cy="2426137"/>
          </a:xfrm>
          <a:prstGeom prst="roundRect">
            <a:avLst>
              <a:gd name="adj" fmla="val 22438"/>
            </a:avLst>
          </a:prstGeom>
          <a:solidFill>
            <a:srgbClr val="83792E"/>
          </a:solidFill>
          <a:ln w="7620">
            <a:solidFill>
              <a:srgbClr val="9C9247"/>
            </a:solidFill>
            <a:prstDash val="solid"/>
          </a:ln>
        </p:spPr>
      </p:sp>
      <p:sp>
        <p:nvSpPr>
          <p:cNvPr id="10" name="Text 7"/>
          <p:cNvSpPr/>
          <p:nvPr/>
        </p:nvSpPr>
        <p:spPr>
          <a:xfrm>
            <a:off x="10406182" y="2892266"/>
            <a:ext cx="3099792"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Enhanced Accessibility</a:t>
            </a:r>
            <a:endParaRPr lang="en-US" sz="2200" dirty="0"/>
          </a:p>
        </p:txBody>
      </p:sp>
      <p:sp>
        <p:nvSpPr>
          <p:cNvPr id="11" name="Text 8"/>
          <p:cNvSpPr/>
          <p:nvPr/>
        </p:nvSpPr>
        <p:spPr>
          <a:xfrm>
            <a:off x="10406182" y="3382685"/>
            <a:ext cx="3195995" cy="1451610"/>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Ensures recipes remain accessible even if internet connectivity is lost in the kitchen.</a:t>
            </a:r>
            <a:endParaRPr lang="en-US" sz="1750" dirty="0"/>
          </a:p>
        </p:txBody>
      </p:sp>
      <p:sp>
        <p:nvSpPr>
          <p:cNvPr id="12" name="Shape 9"/>
          <p:cNvSpPr/>
          <p:nvPr/>
        </p:nvSpPr>
        <p:spPr>
          <a:xfrm>
            <a:off x="6280190" y="5310783"/>
            <a:ext cx="7556421" cy="1685092"/>
          </a:xfrm>
          <a:prstGeom prst="roundRect">
            <a:avLst>
              <a:gd name="adj" fmla="val 32306"/>
            </a:avLst>
          </a:prstGeom>
          <a:solidFill>
            <a:srgbClr val="E8AF3B"/>
          </a:solidFill>
          <a:ln w="7620">
            <a:solidFill>
              <a:srgbClr val="CE9521"/>
            </a:solidFill>
            <a:prstDash val="solid"/>
          </a:ln>
        </p:spPr>
      </p:sp>
      <p:sp>
        <p:nvSpPr>
          <p:cNvPr id="13" name="Text 10"/>
          <p:cNvSpPr/>
          <p:nvPr/>
        </p:nvSpPr>
        <p:spPr>
          <a:xfrm>
            <a:off x="6514624" y="554521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Brygada 1918 Semi Bold" pitchFamily="34" charset="0"/>
                <a:ea typeface="Brygada 1918 Semi Bold" pitchFamily="34" charset="-122"/>
                <a:cs typeface="Brygada 1918 Semi Bold" pitchFamily="34" charset="-120"/>
              </a:rPr>
              <a:t>User Convenience</a:t>
            </a:r>
            <a:endParaRPr lang="en-US" sz="2200" dirty="0"/>
          </a:p>
        </p:txBody>
      </p:sp>
      <p:sp>
        <p:nvSpPr>
          <p:cNvPr id="14" name="Text 11"/>
          <p:cNvSpPr/>
          <p:nvPr/>
        </p:nvSpPr>
        <p:spPr>
          <a:xfrm>
            <a:off x="6514624" y="6035635"/>
            <a:ext cx="7087553"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Brygada 1918" pitchFamily="34" charset="0"/>
                <a:ea typeface="Brygada 1918" pitchFamily="34" charset="-122"/>
                <a:cs typeface="Brygada 1918" pitchFamily="34" charset="-120"/>
              </a:rPr>
              <a:t>Users can review and listen to previously saved recipes without interruption.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139785"/>
            <a:ext cx="2143006" cy="426244"/>
          </a:xfrm>
          <a:prstGeom prst="roundRect">
            <a:avLst>
              <a:gd name="adj" fmla="val 63859"/>
            </a:avLst>
          </a:prstGeom>
          <a:solidFill>
            <a:srgbClr val="EAEDDE"/>
          </a:solidFill>
          <a:ln/>
        </p:spPr>
      </p:sp>
      <p:sp>
        <p:nvSpPr>
          <p:cNvPr id="3" name="Text 1"/>
          <p:cNvSpPr/>
          <p:nvPr/>
        </p:nvSpPr>
        <p:spPr>
          <a:xfrm>
            <a:off x="929878" y="1207770"/>
            <a:ext cx="1870829" cy="290274"/>
          </a:xfrm>
          <a:prstGeom prst="rect">
            <a:avLst/>
          </a:prstGeom>
          <a:noFill/>
          <a:ln/>
        </p:spPr>
        <p:txBody>
          <a:bodyPr wrap="none" lIns="0" tIns="0" rIns="0" bIns="0" rtlCol="0" anchor="t"/>
          <a:lstStyle/>
          <a:p>
            <a:pPr algn="l" indent="0" marL="0">
              <a:lnSpc>
                <a:spcPts val="2250"/>
              </a:lnSpc>
              <a:buNone/>
            </a:pPr>
            <a:r>
              <a:rPr lang="en-US" sz="1400" dirty="0">
                <a:solidFill>
                  <a:srgbClr val="403011"/>
                </a:solidFill>
                <a:latin typeface="Brygada 1918" pitchFamily="34" charset="0"/>
                <a:ea typeface="Brygada 1918" pitchFamily="34" charset="-122"/>
                <a:cs typeface="Brygada 1918" pitchFamily="34" charset="-120"/>
              </a:rPr>
              <a:t>SUMMARY &amp; FUTURE</a:t>
            </a:r>
            <a:endParaRPr lang="en-US" sz="1400" dirty="0"/>
          </a:p>
        </p:txBody>
      </p:sp>
      <p:sp>
        <p:nvSpPr>
          <p:cNvPr id="4" name="Text 2"/>
          <p:cNvSpPr/>
          <p:nvPr/>
        </p:nvSpPr>
        <p:spPr>
          <a:xfrm>
            <a:off x="793790" y="1656755"/>
            <a:ext cx="6735604" cy="566976"/>
          </a:xfrm>
          <a:prstGeom prst="rect">
            <a:avLst/>
          </a:prstGeom>
          <a:noFill/>
          <a:ln/>
        </p:spPr>
        <p:txBody>
          <a:bodyPr wrap="none" lIns="0" tIns="0" rIns="0" bIns="0" rtlCol="0" anchor="t"/>
          <a:lstStyle/>
          <a:p>
            <a:pPr algn="l" indent="0" marL="0">
              <a:lnSpc>
                <a:spcPts val="4450"/>
              </a:lnSpc>
              <a:buNone/>
            </a:pPr>
            <a:r>
              <a:rPr lang="en-US" sz="3550" dirty="0">
                <a:solidFill>
                  <a:srgbClr val="403011"/>
                </a:solidFill>
                <a:latin typeface="Brygada 1918 Semi Bold" pitchFamily="34" charset="0"/>
                <a:ea typeface="Brygada 1918 Semi Bold" pitchFamily="34" charset="-122"/>
                <a:cs typeface="Brygada 1918 Semi Bold" pitchFamily="34" charset="-120"/>
              </a:rPr>
              <a:t>Conclusion &amp; Future Directions</a:t>
            </a:r>
            <a:endParaRPr lang="en-US" sz="3550" dirty="0"/>
          </a:p>
        </p:txBody>
      </p:sp>
      <p:sp>
        <p:nvSpPr>
          <p:cNvPr id="5" name="Text 3"/>
          <p:cNvSpPr/>
          <p:nvPr/>
        </p:nvSpPr>
        <p:spPr>
          <a:xfrm>
            <a:off x="793790" y="256389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The Smart Recipe Assistant bridges the gap between digital technology and practical kitchen utility, offering an innovative solution for modern cooking.</a:t>
            </a:r>
            <a:endParaRPr lang="en-US" sz="1750" dirty="0"/>
          </a:p>
        </p:txBody>
      </p:sp>
      <p:sp>
        <p:nvSpPr>
          <p:cNvPr id="6" name="Shape 4"/>
          <p:cNvSpPr/>
          <p:nvPr/>
        </p:nvSpPr>
        <p:spPr>
          <a:xfrm>
            <a:off x="793790" y="3544848"/>
            <a:ext cx="13042821" cy="2047994"/>
          </a:xfrm>
          <a:prstGeom prst="roundRect">
            <a:avLst>
              <a:gd name="adj" fmla="val 16613"/>
            </a:avLst>
          </a:prstGeom>
          <a:solidFill>
            <a:srgbClr val="626C3B"/>
          </a:solidFill>
          <a:ln w="7620">
            <a:solidFill>
              <a:srgbClr val="7B8554"/>
            </a:solidFill>
            <a:prstDash val="solid"/>
          </a:ln>
        </p:spPr>
      </p:sp>
      <p:sp>
        <p:nvSpPr>
          <p:cNvPr id="7" name="Shape 5"/>
          <p:cNvSpPr/>
          <p:nvPr/>
        </p:nvSpPr>
        <p:spPr>
          <a:xfrm>
            <a:off x="801410" y="3552468"/>
            <a:ext cx="6513790" cy="2032754"/>
          </a:xfrm>
          <a:prstGeom prst="roundRect">
            <a:avLst>
              <a:gd name="adj" fmla="val 16738"/>
            </a:avLst>
          </a:prstGeom>
          <a:solidFill>
            <a:srgbClr val="626C3B"/>
          </a:solidFill>
          <a:ln/>
        </p:spPr>
      </p:sp>
      <p:sp>
        <p:nvSpPr>
          <p:cNvPr id="8" name="Text 6"/>
          <p:cNvSpPr/>
          <p:nvPr/>
        </p:nvSpPr>
        <p:spPr>
          <a:xfrm>
            <a:off x="1028224" y="377928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Summary</a:t>
            </a:r>
            <a:endParaRPr lang="en-US" sz="2200" dirty="0"/>
          </a:p>
        </p:txBody>
      </p:sp>
      <p:sp>
        <p:nvSpPr>
          <p:cNvPr id="9" name="Text 7"/>
          <p:cNvSpPr/>
          <p:nvPr/>
        </p:nvSpPr>
        <p:spPr>
          <a:xfrm>
            <a:off x="1028224" y="4269700"/>
            <a:ext cx="5720001"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A seamless integration of AI and voice control for an effortless cooking experience.</a:t>
            </a:r>
            <a:endParaRPr lang="en-US" sz="1750" dirty="0"/>
          </a:p>
        </p:txBody>
      </p:sp>
      <p:sp>
        <p:nvSpPr>
          <p:cNvPr id="10" name="Shape 8"/>
          <p:cNvSpPr/>
          <p:nvPr/>
        </p:nvSpPr>
        <p:spPr>
          <a:xfrm>
            <a:off x="7315200" y="3552468"/>
            <a:ext cx="6513790" cy="2032754"/>
          </a:xfrm>
          <a:prstGeom prst="rect">
            <a:avLst/>
          </a:prstGeom>
          <a:solidFill>
            <a:srgbClr val="626C3B"/>
          </a:solidFill>
          <a:ln/>
        </p:spPr>
      </p:sp>
      <p:sp>
        <p:nvSpPr>
          <p:cNvPr id="11" name="Shape 9"/>
          <p:cNvSpPr/>
          <p:nvPr/>
        </p:nvSpPr>
        <p:spPr>
          <a:xfrm>
            <a:off x="7315200" y="3552468"/>
            <a:ext cx="30480" cy="2032754"/>
          </a:xfrm>
          <a:prstGeom prst="roundRect">
            <a:avLst>
              <a:gd name="adj" fmla="val 1116279"/>
            </a:avLst>
          </a:prstGeom>
          <a:solidFill>
            <a:srgbClr val="9C9247"/>
          </a:solidFill>
          <a:ln/>
        </p:spPr>
      </p:sp>
      <p:sp>
        <p:nvSpPr>
          <p:cNvPr id="12" name="Text 10"/>
          <p:cNvSpPr/>
          <p:nvPr/>
        </p:nvSpPr>
        <p:spPr>
          <a:xfrm>
            <a:off x="7882176" y="377928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Future Work</a:t>
            </a:r>
            <a:endParaRPr lang="en-US" sz="2200" dirty="0"/>
          </a:p>
        </p:txBody>
      </p:sp>
      <p:sp>
        <p:nvSpPr>
          <p:cNvPr id="13" name="Text 11"/>
          <p:cNvSpPr/>
          <p:nvPr/>
        </p:nvSpPr>
        <p:spPr>
          <a:xfrm>
            <a:off x="7882176" y="4269700"/>
            <a:ext cx="5720001" cy="1088708"/>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Brygada 1918" pitchFamily="34" charset="0"/>
                <a:ea typeface="Brygada 1918" pitchFamily="34" charset="-122"/>
                <a:cs typeface="Brygada 1918" pitchFamily="34" charset="-120"/>
              </a:rPr>
              <a:t>Planned enhancements include support for additional languages (e.g., Urdu) and advanced meal planning features.</a:t>
            </a:r>
            <a:endParaRPr lang="en-US" sz="1750" dirty="0"/>
          </a:p>
        </p:txBody>
      </p:sp>
      <p:sp>
        <p:nvSpPr>
          <p:cNvPr id="14" name="Shape 12"/>
          <p:cNvSpPr/>
          <p:nvPr/>
        </p:nvSpPr>
        <p:spPr>
          <a:xfrm>
            <a:off x="7031712" y="4285298"/>
            <a:ext cx="566976" cy="566976"/>
          </a:xfrm>
          <a:prstGeom prst="roundRect">
            <a:avLst>
              <a:gd name="adj" fmla="val 60010"/>
            </a:avLst>
          </a:prstGeom>
          <a:solidFill>
            <a:srgbClr val="F6EBD4"/>
          </a:solidFill>
          <a:ln w="30480">
            <a:solidFill>
              <a:srgbClr val="9C9247"/>
            </a:solidFill>
            <a:prstDash val="solid"/>
          </a:ln>
        </p:spPr>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73397" y="4426982"/>
            <a:ext cx="283488" cy="283488"/>
          </a:xfrm>
          <a:prstGeom prst="rect">
            <a:avLst/>
          </a:prstGeom>
        </p:spPr>
      </p:pic>
      <p:sp>
        <p:nvSpPr>
          <p:cNvPr id="16" name="Text 13"/>
          <p:cNvSpPr/>
          <p:nvPr/>
        </p:nvSpPr>
        <p:spPr>
          <a:xfrm>
            <a:off x="793790" y="584799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03011"/>
                </a:solidFill>
                <a:latin typeface="Brygada 1918" pitchFamily="34" charset="0"/>
                <a:ea typeface="Brygada 1918" pitchFamily="34" charset="-122"/>
                <a:cs typeface="Brygada 1918" pitchFamily="34" charset="-120"/>
              </a:rPr>
              <a:t>Explore the project and contribute:</a:t>
            </a:r>
            <a:endParaRPr lang="en-US" sz="1750" dirty="0"/>
          </a:p>
        </p:txBody>
      </p:sp>
      <p:pic>
        <p:nvPicPr>
          <p:cNvPr id="17" name="Image 1" descr="preencoded.png">
            <a:hlinkClick r:id="rId4" tooltip=""/>
          </p:cNvPr>
          <p:cNvPicPr>
            <a:picLocks noChangeAspect="1"/>
          </p:cNvPicPr>
          <p:nvPr/>
        </p:nvPicPr>
        <p:blipFill>
          <a:blip r:embed="rId3"/>
          <a:stretch>
            <a:fillRect/>
          </a:stretch>
        </p:blipFill>
        <p:spPr>
          <a:xfrm>
            <a:off x="793790" y="6466046"/>
            <a:ext cx="2984063" cy="6237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2026-01-05T08:03:01Z</dcterms:created>
  <dcterms:modified xsi:type="dcterms:W3CDTF">2026-01-05T08:03:01Z</dcterms:modified>
</cp:coreProperties>
</file>